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Times New Roman Bold" panose="02020803070505020304" pitchFamily="18"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45 giây. Giới thiệu đề tài và hai thành viên. Phân tích báo giá niêm yết tại một snapshot, không phải giá giao dịch. Nhóm xác nhận không tham khảo code/dự án mẫu, không sử dụng đề tài/dữ liệu cho môn khác; có AI hỗ trợ và nhóm chịu trách nhiệm kiểm tra.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45 giây. Giới thiệu đề tài và hai thành viên. Phân tích báo giá niêm yết tại một snapshot, không phải giá giao dịch. Nhóm xác nhận không tham khảo code/dự án mẫu, không sử dụng đề tài/dữ liệu cho môn khác; có AI hỗ trợ và nhóm chịu trách nhiệm kiểm tra.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40 giây. Nêu bốn RQ. Luồng trình bày: dữ liệu, xử lý, bốn RQ, kiểm tra khả thi hồi quy, kết quả và giới hạn.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Thiện – 50 giây. last_scraped từ 29/06 đến 02/07/2026. Một dòng là listing, không phải listing–ngày. Giá THB/đêm được đối chiếu trên 28.987 cặp với trường báo giá; chưa xác minh toàn bộ thuế/phí. Không suy ra doanh thu.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Thiện – 50 giây. Loại 2.082 dòng thiếu giá, không suy diễn y. Ngoại lệ IQR chỉ được đánh dấu; giữ giá dương hữu hạn. Baseline giữ missing predictor; EDA dùng cặp hợp lệ. Imputer/scaler chỉ fit train nếu có mô hình khả thi. Raw bất biến, kiểm tra SHA-256.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65 giây. Median 1.592; mean 2.955,96 THB/đêm; Q1 1.041,465 và Q3 2.539,565. Phân phối lệch phải. Trục log chỉ để hiển thị, không biến đổi target. Panel phải có 28.210 dòng trong khung; 777 dòng ngoài khung vẫn được giữ trong thống kê.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70 giây. Shared room median 431,22 n=498; Private room 1.389,83 n=8.914; Entire home/apt 1.715,44 n=19.300; Hotel room 1.999 n=275. Hộp/râu tính toàn nhóm trước khi giới hạn trục 8.000. Q1–Q3 không là khoảng tin cậy. ANOVA F=5,9323 p=0,000485542; Levene W=3,123 p=0,0247826. Kết quả thăm dò, có giới hạn phân phối lệch, phương sai và phụ thuộc theo host; không suy ra nhân quả.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65 giây. r chỉ khoảng 0,069–0,107; p nhỏ với n lớn không đồng nghĩa dự báo tốt. Scatter lấy tối đa 3.000 điểm mỗi biến và giới hạn trục 20.000; OLS/Pearson tính toàn bộ cặp hợp lệ. Không dùng EDA toàn mẫu để chọn biến trong CV. Chưa có phân tích độ nhạy để quy r thấp cho cực trị.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60 giây. Trong cùng Entire home/apt: Bang Phlat có n=284, median 678,03; Samphanthawong n=105, median 3.115,50 THB/đêm. Ngưỡng n≥20 chỉ phục vụ hiển thị. Pivot 50×4 có 43 ô không mẫu và 27 ô với 1–4 listing. Chưa kiểm soát chất lượng/tiện nghi nên không tách riêng tác động vị trí.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Thiện – 70 giây. Split 70/30 seed42, KFold 4-fold shuffle42. Chọn biến/fit transform chỉ trên training fold. Không biến số nào đạt |r|≥0,30 và p&lt;0,05; điều kiện ANOVA làm bộ lọc phân loại chưa xác nhận. Chưa xây hồi quy theo chính sách hiện tại, không chứng minh dữ liệu không thể mô hình hóa. Dummy dự đoán mean train 2.976,12; test MSE 315.021.203,83 và R² −0,000014334. Không có hệ số, alpha tối ưu hoặc hình phần dư hồi quy thực. 82,81% listing test thuộc host đã thấy ở train.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85 giây. Tổng hợp bốn phát hiện và các giới hạn, đối chiếu mỗi phát hiện với hình tương ứng. Nêu các việc chưa có cơ sở: đề xuất giá tối ưu, doanh thu, nhân quả, dự báo thời điểm khác hoặc chủ nhà mới. Kết quả hỗ trợ chọn nhóm báo giá để so sánh. Tổng slide 1–10: 600 giây. Chuyển Thiện thực hiện demo.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Thắng – 85 giây. Tổng hợp bốn phát hiện và các giới hạn, đối chiếu mỗi phát hiện với hình tương ứng. Nêu các việc chưa có cơ sở: đề xuất giá tối ưu, doanh thu, nhân quả, dự báo thời điểm khác hoặc chủ nhà mới. Kết quả hỗ trợ chọn nhóm báo giá để so sánh. Tổng slide 1–10: 600 giây. Chuyển Thiện thực hiện demo.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sp>
        <p:nvSpPr>
          <p:cNvPr id="4" name="TextBox 4"/>
          <p:cNvSpPr txBox="1"/>
          <p:nvPr/>
        </p:nvSpPr>
        <p:spPr>
          <a:xfrm>
            <a:off x="2839106" y="4599299"/>
            <a:ext cx="16696944" cy="685800"/>
          </a:xfrm>
          <a:prstGeom prst="rect">
            <a:avLst/>
          </a:prstGeom>
        </p:spPr>
        <p:txBody>
          <a:bodyPr lIns="0" tIns="0" rIns="0" bIns="0" rtlCol="0" anchor="t">
            <a:spAutoFit/>
          </a:bodyPr>
          <a:lstStyle/>
          <a:p>
            <a:pPr algn="l">
              <a:lnSpc>
                <a:spcPts val="5220"/>
              </a:lnSpc>
            </a:pPr>
            <a:r>
              <a:rPr lang="en-US" sz="4350" spc="-256">
                <a:solidFill>
                  <a:srgbClr val="185079"/>
                </a:solidFill>
                <a:latin typeface="Times New Roman"/>
                <a:ea typeface="Times New Roman"/>
                <a:cs typeface="Times New Roman"/>
                <a:sym typeface="Times New Roman"/>
              </a:rPr>
              <a:t>PHÂN TÍCH VÀ TRỰC QUAN HÓA GIÁ THUÊ AIRBNB</a:t>
            </a:r>
          </a:p>
        </p:txBody>
      </p:sp>
      <p:grpSp>
        <p:nvGrpSpPr>
          <p:cNvPr id="5" name="Group 5"/>
          <p:cNvGrpSpPr/>
          <p:nvPr/>
        </p:nvGrpSpPr>
        <p:grpSpPr>
          <a:xfrm>
            <a:off x="754380" y="9436608"/>
            <a:ext cx="16733520" cy="16459"/>
            <a:chOff x="0" y="0"/>
            <a:chExt cx="22311360" cy="21946"/>
          </a:xfrm>
        </p:grpSpPr>
        <p:sp>
          <p:nvSpPr>
            <p:cNvPr id="6" name="Freeform 6"/>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7" name="TextBox 7"/>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01</a:t>
            </a:r>
          </a:p>
        </p:txBody>
      </p:sp>
      <p:sp>
        <p:nvSpPr>
          <p:cNvPr id="8" name="TextBox 8"/>
          <p:cNvSpPr txBox="1"/>
          <p:nvPr/>
        </p:nvSpPr>
        <p:spPr>
          <a:xfrm>
            <a:off x="3665619" y="5486876"/>
            <a:ext cx="16422624" cy="723900"/>
          </a:xfrm>
          <a:prstGeom prst="rect">
            <a:avLst/>
          </a:prstGeom>
        </p:spPr>
        <p:txBody>
          <a:bodyPr lIns="0" tIns="0" rIns="0" bIns="0" rtlCol="0" anchor="t">
            <a:spAutoFit/>
          </a:bodyPr>
          <a:lstStyle/>
          <a:p>
            <a:pPr algn="l">
              <a:lnSpc>
                <a:spcPts val="5580"/>
              </a:lnSpc>
            </a:pPr>
            <a:r>
              <a:rPr lang="en-US" sz="4650" spc="-274">
                <a:solidFill>
                  <a:srgbClr val="185079"/>
                </a:solidFill>
                <a:latin typeface="Times New Roman"/>
                <a:ea typeface="Times New Roman"/>
                <a:cs typeface="Times New Roman"/>
                <a:sym typeface="Times New Roman"/>
              </a:rPr>
              <a:t>BANGKOK VÀ CÁC YẾU TỐ LIÊN QUAN</a:t>
            </a:r>
          </a:p>
        </p:txBody>
      </p:sp>
      <p:sp>
        <p:nvSpPr>
          <p:cNvPr id="9" name="TextBox 9"/>
          <p:cNvSpPr txBox="1"/>
          <p:nvPr/>
        </p:nvSpPr>
        <p:spPr>
          <a:xfrm>
            <a:off x="1824241" y="884833"/>
            <a:ext cx="13834334" cy="1457325"/>
          </a:xfrm>
          <a:prstGeom prst="rect">
            <a:avLst/>
          </a:prstGeom>
        </p:spPr>
        <p:txBody>
          <a:bodyPr lIns="0" tIns="0" rIns="0" bIns="0" rtlCol="0" anchor="t">
            <a:spAutoFit/>
          </a:bodyPr>
          <a:lstStyle/>
          <a:p>
            <a:pPr algn="ctr">
              <a:lnSpc>
                <a:spcPts val="2879"/>
              </a:lnSpc>
            </a:pPr>
            <a:r>
              <a:rPr lang="en-US" sz="2400" b="1" dirty="0">
                <a:solidFill>
                  <a:srgbClr val="0284C7"/>
                </a:solidFill>
                <a:latin typeface="Times New Roman Bold"/>
                <a:ea typeface="Times New Roman Bold"/>
                <a:cs typeface="Times New Roman Bold"/>
                <a:sym typeface="Times New Roman Bold"/>
              </a:rPr>
              <a:t>TRƯỜNG ĐẠI HỌC CÔNG NGHỆ THÔNG TIN - ĐẠI HỌC QUỐC GIA TP. HỒ CHÍ MINH</a:t>
            </a:r>
          </a:p>
          <a:p>
            <a:pPr algn="ctr">
              <a:lnSpc>
                <a:spcPts val="2879"/>
              </a:lnSpc>
            </a:pPr>
            <a:r>
              <a:rPr lang="en-US" sz="2400" b="1" dirty="0">
                <a:solidFill>
                  <a:srgbClr val="0284C7"/>
                </a:solidFill>
                <a:latin typeface="Times New Roman Bold"/>
                <a:ea typeface="Times New Roman Bold"/>
                <a:cs typeface="Times New Roman Bold"/>
                <a:sym typeface="Times New Roman Bold"/>
              </a:rPr>
              <a:t>TRUNG TÂM PHÁT TRIỂN CÔNG NGHỆ THÔNG TIN</a:t>
            </a:r>
          </a:p>
          <a:p>
            <a:pPr algn="ctr">
              <a:lnSpc>
                <a:spcPts val="2879"/>
              </a:lnSpc>
            </a:pPr>
            <a:r>
              <a:rPr lang="en-US" sz="2400" b="1" dirty="0">
                <a:solidFill>
                  <a:srgbClr val="0284C7"/>
                </a:solidFill>
                <a:latin typeface="Times New Roman Bold"/>
                <a:ea typeface="Times New Roman Bold"/>
                <a:cs typeface="Times New Roman Bold"/>
                <a:sym typeface="Times New Roman Bold"/>
              </a:rPr>
              <a:t>KHOA CÔNG NGHỆ THÔNG TIN</a:t>
            </a:r>
          </a:p>
          <a:p>
            <a:pPr algn="ctr">
              <a:lnSpc>
                <a:spcPts val="2879"/>
              </a:lnSpc>
            </a:pPr>
            <a:endParaRPr lang="en-US" sz="2400" b="1" dirty="0">
              <a:solidFill>
                <a:srgbClr val="0284C7"/>
              </a:solidFill>
              <a:latin typeface="Times New Roman Bold"/>
              <a:ea typeface="Times New Roman Bold"/>
              <a:cs typeface="Times New Roman Bold"/>
              <a:sym typeface="Times New Roman Bold"/>
            </a:endParaRPr>
          </a:p>
        </p:txBody>
      </p:sp>
      <p:sp>
        <p:nvSpPr>
          <p:cNvPr id="10" name="Freeform 10"/>
          <p:cNvSpPr/>
          <p:nvPr/>
        </p:nvSpPr>
        <p:spPr>
          <a:xfrm>
            <a:off x="-59449" y="194951"/>
            <a:ext cx="1883691" cy="1304094"/>
          </a:xfrm>
          <a:custGeom>
            <a:avLst/>
            <a:gdLst/>
            <a:ahLst/>
            <a:cxnLst/>
            <a:rect l="l" t="t" r="r" b="b"/>
            <a:pathLst>
              <a:path w="1883691" h="1304094">
                <a:moveTo>
                  <a:pt x="0" y="0"/>
                </a:moveTo>
                <a:lnTo>
                  <a:pt x="1883690" y="0"/>
                </a:lnTo>
                <a:lnTo>
                  <a:pt x="1883690" y="1304093"/>
                </a:lnTo>
                <a:lnTo>
                  <a:pt x="0" y="1304093"/>
                </a:lnTo>
                <a:lnTo>
                  <a:pt x="0" y="0"/>
                </a:lnTo>
                <a:close/>
              </a:path>
            </a:pathLst>
          </a:custGeom>
          <a:blipFill>
            <a:blip r:embed="rId3"/>
            <a:stretch>
              <a:fillRect/>
            </a:stretch>
          </a:blipFill>
        </p:spPr>
      </p:sp>
      <p:sp>
        <p:nvSpPr>
          <p:cNvPr id="11" name="TextBox 11"/>
          <p:cNvSpPr txBox="1"/>
          <p:nvPr/>
        </p:nvSpPr>
        <p:spPr>
          <a:xfrm>
            <a:off x="3443488" y="3013670"/>
            <a:ext cx="11415512" cy="1162562"/>
          </a:xfrm>
          <a:prstGeom prst="rect">
            <a:avLst/>
          </a:prstGeom>
        </p:spPr>
        <p:txBody>
          <a:bodyPr wrap="square" lIns="0" tIns="0" rIns="0" bIns="0" rtlCol="0" anchor="t">
            <a:spAutoFit/>
          </a:bodyPr>
          <a:lstStyle/>
          <a:p>
            <a:pPr marL="0" lvl="0" indent="0" algn="ctr">
              <a:lnSpc>
                <a:spcPts val="4345"/>
              </a:lnSpc>
              <a:spcBef>
                <a:spcPct val="0"/>
              </a:spcBef>
            </a:pPr>
            <a:r>
              <a:rPr lang="en-US" sz="6572" b="1" u="none" strike="noStrike" dirty="0">
                <a:solidFill>
                  <a:srgbClr val="0284C7"/>
                </a:solidFill>
                <a:latin typeface="Times New Roman Bold"/>
                <a:ea typeface="Times New Roman Bold"/>
                <a:cs typeface="Times New Roman Bold"/>
                <a:sym typeface="Times New Roman Bold"/>
              </a:rPr>
              <a:t>BÁO CÁO ĐỒ ÁN CUỐI KỲ</a:t>
            </a:r>
          </a:p>
          <a:p>
            <a:pPr marL="0" lvl="0" indent="0" algn="ctr">
              <a:lnSpc>
                <a:spcPts val="4345"/>
              </a:lnSpc>
              <a:spcBef>
                <a:spcPct val="0"/>
              </a:spcBef>
            </a:pPr>
            <a:endParaRPr lang="en-US" sz="6572" b="1" u="none" strike="noStrike" dirty="0">
              <a:solidFill>
                <a:srgbClr val="0284C7"/>
              </a:solidFill>
              <a:latin typeface="Times New Roman Bold"/>
              <a:ea typeface="Times New Roman Bold"/>
              <a:cs typeface="Times New Roman Bold"/>
              <a:sym typeface="Times New Roman Bold"/>
            </a:endParaRPr>
          </a:p>
        </p:txBody>
      </p:sp>
      <p:sp>
        <p:nvSpPr>
          <p:cNvPr id="12" name="TextBox 12"/>
          <p:cNvSpPr txBox="1"/>
          <p:nvPr/>
        </p:nvSpPr>
        <p:spPr>
          <a:xfrm>
            <a:off x="-548789" y="8595817"/>
            <a:ext cx="18288000" cy="857250"/>
          </a:xfrm>
          <a:prstGeom prst="rect">
            <a:avLst/>
          </a:prstGeom>
        </p:spPr>
        <p:txBody>
          <a:bodyPr lIns="0" tIns="0" rIns="0" bIns="0" rtlCol="0" anchor="t">
            <a:spAutoFit/>
          </a:bodyPr>
          <a:lstStyle/>
          <a:p>
            <a:pPr algn="ctr">
              <a:lnSpc>
                <a:spcPts val="3359"/>
              </a:lnSpc>
            </a:pPr>
            <a:r>
              <a:rPr lang="en-US" sz="2799">
                <a:solidFill>
                  <a:srgbClr val="000000"/>
                </a:solidFill>
                <a:latin typeface="Times New Roman"/>
                <a:ea typeface="Times New Roman"/>
                <a:cs typeface="Times New Roman"/>
                <a:sym typeface="Times New Roman"/>
              </a:rPr>
              <a:t>Môn học: IE313.F32.LT.CNTT - Phân tích và trực quan dữ liệu</a:t>
            </a:r>
          </a:p>
          <a:p>
            <a:pPr algn="ctr">
              <a:lnSpc>
                <a:spcPts val="3359"/>
              </a:lnSpc>
            </a:pPr>
            <a:r>
              <a:rPr lang="en-US" sz="2799">
                <a:solidFill>
                  <a:srgbClr val="000000"/>
                </a:solidFill>
                <a:latin typeface="Times New Roman"/>
                <a:ea typeface="Times New Roman"/>
                <a:cs typeface="Times New Roman"/>
                <a:sym typeface="Times New Roman"/>
              </a:rPr>
              <a:t>GV: Ths. Phạm Thế Sơn</a:t>
            </a:r>
          </a:p>
        </p:txBody>
      </p:sp>
      <p:sp>
        <p:nvSpPr>
          <p:cNvPr id="13" name="TextBox 13"/>
          <p:cNvSpPr txBox="1"/>
          <p:nvPr/>
        </p:nvSpPr>
        <p:spPr>
          <a:xfrm>
            <a:off x="12954782" y="6558960"/>
            <a:ext cx="1610023" cy="438150"/>
          </a:xfrm>
          <a:prstGeom prst="rect">
            <a:avLst/>
          </a:prstGeom>
        </p:spPr>
        <p:txBody>
          <a:bodyPr lIns="0" tIns="0" rIns="0" bIns="0" rtlCol="0" anchor="t">
            <a:spAutoFit/>
          </a:bodyPr>
          <a:lstStyle/>
          <a:p>
            <a:pPr marL="0" lvl="0" indent="0" algn="ctr">
              <a:lnSpc>
                <a:spcPts val="3359"/>
              </a:lnSpc>
              <a:spcBef>
                <a:spcPct val="0"/>
              </a:spcBef>
            </a:pPr>
            <a:r>
              <a:rPr lang="en-US" sz="2799" u="none" strike="noStrike">
                <a:solidFill>
                  <a:srgbClr val="000000"/>
                </a:solidFill>
                <a:latin typeface="Times New Roman"/>
                <a:ea typeface="Times New Roman"/>
                <a:cs typeface="Times New Roman"/>
                <a:sym typeface="Times New Roman"/>
              </a:rPr>
              <a:t>Nhóm #10:</a:t>
            </a:r>
          </a:p>
        </p:txBody>
      </p:sp>
      <p:sp>
        <p:nvSpPr>
          <p:cNvPr id="14" name="TextBox 14"/>
          <p:cNvSpPr txBox="1"/>
          <p:nvPr/>
        </p:nvSpPr>
        <p:spPr>
          <a:xfrm>
            <a:off x="13882649" y="7014783"/>
            <a:ext cx="3376651" cy="855970"/>
          </a:xfrm>
          <a:prstGeom prst="rect">
            <a:avLst/>
          </a:prstGeom>
        </p:spPr>
        <p:txBody>
          <a:bodyPr lIns="0" tIns="0" rIns="0" bIns="0" rtlCol="0" anchor="t">
            <a:spAutoFit/>
          </a:bodyPr>
          <a:lstStyle/>
          <a:p>
            <a:pPr marL="604518" lvl="1" indent="-302259" algn="l">
              <a:lnSpc>
                <a:spcPts val="3359"/>
              </a:lnSpc>
              <a:spcBef>
                <a:spcPct val="0"/>
              </a:spcBef>
              <a:buAutoNum type="arabicPeriod"/>
            </a:pPr>
            <a:r>
              <a:rPr lang="en-US" sz="2799" u="none" strike="noStrike">
                <a:solidFill>
                  <a:srgbClr val="000000"/>
                </a:solidFill>
                <a:latin typeface="Times New Roman"/>
                <a:ea typeface="Times New Roman"/>
                <a:cs typeface="Times New Roman"/>
                <a:sym typeface="Times New Roman"/>
              </a:rPr>
              <a:t>Phạm Quốc Thắng</a:t>
            </a:r>
          </a:p>
          <a:p>
            <a:pPr marL="604518" lvl="1" indent="-302259" algn="l">
              <a:lnSpc>
                <a:spcPts val="3359"/>
              </a:lnSpc>
              <a:spcBef>
                <a:spcPct val="0"/>
              </a:spcBef>
              <a:buAutoNum type="arabicPeriod"/>
            </a:pPr>
            <a:r>
              <a:rPr lang="en-US" sz="2799" u="none" strike="noStrike">
                <a:solidFill>
                  <a:srgbClr val="000000"/>
                </a:solidFill>
                <a:latin typeface="Times New Roman"/>
                <a:ea typeface="Times New Roman"/>
                <a:cs typeface="Times New Roman"/>
                <a:sym typeface="Times New Roman"/>
              </a:rPr>
              <a:t>Lê Minh Thiện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grpSp>
        <p:nvGrpSpPr>
          <p:cNvPr id="4" name="Group 4"/>
          <p:cNvGrpSpPr/>
          <p:nvPr/>
        </p:nvGrpSpPr>
        <p:grpSpPr>
          <a:xfrm>
            <a:off x="754380" y="9436608"/>
            <a:ext cx="16733520" cy="16459"/>
            <a:chOff x="0" y="0"/>
            <a:chExt cx="22311360" cy="21946"/>
          </a:xfrm>
        </p:grpSpPr>
        <p:sp>
          <p:nvSpPr>
            <p:cNvPr id="5" name="Freeform 5"/>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grpSp>
        <p:nvGrpSpPr>
          <p:cNvPr id="6" name="Group 6"/>
          <p:cNvGrpSpPr/>
          <p:nvPr/>
        </p:nvGrpSpPr>
        <p:grpSpPr>
          <a:xfrm>
            <a:off x="772668" y="7356782"/>
            <a:ext cx="8161020" cy="1472078"/>
            <a:chOff x="0" y="0"/>
            <a:chExt cx="10881360" cy="1962770"/>
          </a:xfrm>
        </p:grpSpPr>
        <p:sp>
          <p:nvSpPr>
            <p:cNvPr id="7" name="Freeform 7"/>
            <p:cNvSpPr/>
            <p:nvPr/>
          </p:nvSpPr>
          <p:spPr>
            <a:xfrm>
              <a:off x="0" y="0"/>
              <a:ext cx="10881360" cy="1962770"/>
            </a:xfrm>
            <a:custGeom>
              <a:avLst/>
              <a:gdLst/>
              <a:ahLst/>
              <a:cxnLst/>
              <a:rect l="l" t="t" r="r" b="b"/>
              <a:pathLst>
                <a:path w="10881360" h="1962770">
                  <a:moveTo>
                    <a:pt x="0" y="0"/>
                  </a:moveTo>
                  <a:lnTo>
                    <a:pt x="10881360" y="0"/>
                  </a:lnTo>
                  <a:lnTo>
                    <a:pt x="10881360" y="1962770"/>
                  </a:lnTo>
                  <a:lnTo>
                    <a:pt x="0" y="1962770"/>
                  </a:lnTo>
                  <a:close/>
                </a:path>
              </a:pathLst>
            </a:custGeom>
            <a:solidFill>
              <a:srgbClr val="3885AB"/>
            </a:solidFill>
          </p:spPr>
        </p:sp>
      </p:grpSp>
      <p:grpSp>
        <p:nvGrpSpPr>
          <p:cNvPr id="8" name="Group 8"/>
          <p:cNvGrpSpPr/>
          <p:nvPr/>
        </p:nvGrpSpPr>
        <p:grpSpPr>
          <a:xfrm>
            <a:off x="9532620" y="7331043"/>
            <a:ext cx="8161020" cy="1497817"/>
            <a:chOff x="0" y="0"/>
            <a:chExt cx="10881360" cy="1997090"/>
          </a:xfrm>
        </p:grpSpPr>
        <p:sp>
          <p:nvSpPr>
            <p:cNvPr id="9" name="Freeform 9"/>
            <p:cNvSpPr/>
            <p:nvPr/>
          </p:nvSpPr>
          <p:spPr>
            <a:xfrm>
              <a:off x="0" y="0"/>
              <a:ext cx="10881360" cy="1997090"/>
            </a:xfrm>
            <a:custGeom>
              <a:avLst/>
              <a:gdLst/>
              <a:ahLst/>
              <a:cxnLst/>
              <a:rect l="l" t="t" r="r" b="b"/>
              <a:pathLst>
                <a:path w="10881360" h="1997090">
                  <a:moveTo>
                    <a:pt x="0" y="0"/>
                  </a:moveTo>
                  <a:lnTo>
                    <a:pt x="10881360" y="0"/>
                  </a:lnTo>
                  <a:lnTo>
                    <a:pt x="10881360" y="1997090"/>
                  </a:lnTo>
                  <a:lnTo>
                    <a:pt x="0" y="1997090"/>
                  </a:lnTo>
                  <a:close/>
                </a:path>
              </a:pathLst>
            </a:custGeom>
            <a:solidFill>
              <a:srgbClr val="3885AB"/>
            </a:solidFill>
          </p:spPr>
        </p:sp>
      </p:grpSp>
      <p:sp>
        <p:nvSpPr>
          <p:cNvPr id="10" name="Freeform 10"/>
          <p:cNvSpPr/>
          <p:nvPr/>
        </p:nvSpPr>
        <p:spPr>
          <a:xfrm>
            <a:off x="11306199" y="1700716"/>
            <a:ext cx="3964150" cy="5569804"/>
          </a:xfrm>
          <a:custGeom>
            <a:avLst/>
            <a:gdLst/>
            <a:ahLst/>
            <a:cxnLst/>
            <a:rect l="l" t="t" r="r" b="b"/>
            <a:pathLst>
              <a:path w="3964150" h="5498081">
                <a:moveTo>
                  <a:pt x="0" y="0"/>
                </a:moveTo>
                <a:lnTo>
                  <a:pt x="3964150" y="0"/>
                </a:lnTo>
                <a:lnTo>
                  <a:pt x="3964150" y="5498081"/>
                </a:lnTo>
                <a:lnTo>
                  <a:pt x="0" y="5498081"/>
                </a:lnTo>
                <a:lnTo>
                  <a:pt x="0" y="0"/>
                </a:lnTo>
                <a:close/>
              </a:path>
            </a:pathLst>
          </a:custGeom>
          <a:blipFill>
            <a:blip r:embed="rId3"/>
            <a:stretch>
              <a:fillRect t="-8117"/>
            </a:stretch>
          </a:blipFill>
        </p:spPr>
      </p:sp>
      <p:sp>
        <p:nvSpPr>
          <p:cNvPr id="11" name="Freeform 11"/>
          <p:cNvSpPr/>
          <p:nvPr/>
        </p:nvSpPr>
        <p:spPr>
          <a:xfrm>
            <a:off x="2125058" y="1810482"/>
            <a:ext cx="4162896" cy="5460037"/>
          </a:xfrm>
          <a:custGeom>
            <a:avLst/>
            <a:gdLst/>
            <a:ahLst/>
            <a:cxnLst/>
            <a:rect l="l" t="t" r="r" b="b"/>
            <a:pathLst>
              <a:path w="4162896" h="5460037">
                <a:moveTo>
                  <a:pt x="0" y="0"/>
                </a:moveTo>
                <a:lnTo>
                  <a:pt x="4162896" y="0"/>
                </a:lnTo>
                <a:lnTo>
                  <a:pt x="4162896" y="5460037"/>
                </a:lnTo>
                <a:lnTo>
                  <a:pt x="0" y="5460037"/>
                </a:lnTo>
                <a:lnTo>
                  <a:pt x="0" y="0"/>
                </a:lnTo>
                <a:close/>
              </a:path>
            </a:pathLst>
          </a:custGeom>
          <a:blipFill>
            <a:blip r:embed="rId4"/>
            <a:stretch>
              <a:fillRect l="-51721" t="-26045" r="-79497"/>
            </a:stretch>
          </a:blipFill>
        </p:spPr>
      </p:sp>
      <p:sp>
        <p:nvSpPr>
          <p:cNvPr id="12" name="TextBox 12"/>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13" name="TextBox 13"/>
          <p:cNvSpPr txBox="1"/>
          <p:nvPr/>
        </p:nvSpPr>
        <p:spPr>
          <a:xfrm>
            <a:off x="790956" y="867563"/>
            <a:ext cx="16696944" cy="685800"/>
          </a:xfrm>
          <a:prstGeom prst="rect">
            <a:avLst/>
          </a:prstGeom>
        </p:spPr>
        <p:txBody>
          <a:bodyPr lIns="0" tIns="0" rIns="0" bIns="0" rtlCol="0" anchor="t">
            <a:spAutoFit/>
          </a:bodyPr>
          <a:lstStyle/>
          <a:p>
            <a:pPr algn="l">
              <a:lnSpc>
                <a:spcPts val="5220"/>
              </a:lnSpc>
            </a:pPr>
            <a:r>
              <a:rPr lang="en-US" sz="4350" spc="-256">
                <a:solidFill>
                  <a:srgbClr val="185079"/>
                </a:solidFill>
                <a:latin typeface="Times New Roman"/>
                <a:ea typeface="Times New Roman"/>
                <a:cs typeface="Times New Roman"/>
                <a:sym typeface="Times New Roman"/>
              </a:rPr>
              <a:t>THÀNH VIÊN THỰC HIỆN</a:t>
            </a:r>
          </a:p>
        </p:txBody>
      </p:sp>
      <p:sp>
        <p:nvSpPr>
          <p:cNvPr id="14" name="TextBox 14"/>
          <p:cNvSpPr txBox="1"/>
          <p:nvPr/>
        </p:nvSpPr>
        <p:spPr>
          <a:xfrm>
            <a:off x="772668" y="9600438"/>
            <a:ext cx="15873984" cy="219075"/>
          </a:xfrm>
          <a:prstGeom prst="rect">
            <a:avLst/>
          </a:prstGeom>
        </p:spPr>
        <p:txBody>
          <a:bodyPr lIns="0" tIns="0" rIns="0" bIns="0" rtlCol="0" anchor="t">
            <a:spAutoFit/>
          </a:bodyPr>
          <a:lstStyle/>
          <a:p>
            <a:pPr algn="l">
              <a:lnSpc>
                <a:spcPts val="1620"/>
              </a:lnSpc>
            </a:pPr>
            <a:r>
              <a:rPr lang="en-US" sz="1350" b="1">
                <a:solidFill>
                  <a:srgbClr val="185079"/>
                </a:solidFill>
                <a:latin typeface="Times New Roman Bold"/>
                <a:ea typeface="Times New Roman Bold"/>
                <a:cs typeface="Times New Roman Bold"/>
                <a:sym typeface="Times New Roman Bold"/>
              </a:rPr>
              <a:t>Inside Airbnb • Bangkok 29/06/2026 • CC BY 4.0 • Bản trình bày 12/10/2026</a:t>
            </a:r>
          </a:p>
        </p:txBody>
      </p:sp>
      <p:sp>
        <p:nvSpPr>
          <p:cNvPr id="15" name="TextBox 15"/>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01</a:t>
            </a:r>
          </a:p>
        </p:txBody>
      </p:sp>
      <p:sp>
        <p:nvSpPr>
          <p:cNvPr id="16" name="TextBox 16"/>
          <p:cNvSpPr txBox="1"/>
          <p:nvPr/>
        </p:nvSpPr>
        <p:spPr>
          <a:xfrm>
            <a:off x="2517916" y="7499064"/>
            <a:ext cx="4166890" cy="1076325"/>
          </a:xfrm>
          <a:prstGeom prst="rect">
            <a:avLst/>
          </a:prstGeom>
        </p:spPr>
        <p:txBody>
          <a:bodyPr lIns="0" tIns="0" rIns="0" bIns="0" rtlCol="0" anchor="t">
            <a:spAutoFit/>
          </a:bodyPr>
          <a:lstStyle/>
          <a:p>
            <a:pPr algn="ctr">
              <a:lnSpc>
                <a:spcPts val="4140"/>
              </a:lnSpc>
            </a:pPr>
            <a:r>
              <a:rPr lang="en-US" sz="3450" b="1" spc="-203">
                <a:solidFill>
                  <a:srgbClr val="FBF6F1"/>
                </a:solidFill>
                <a:latin typeface="Times New Roman Bold"/>
                <a:ea typeface="Times New Roman Bold"/>
                <a:cs typeface="Times New Roman Bold"/>
                <a:sym typeface="Times New Roman Bold"/>
              </a:rPr>
              <a:t>25410304</a:t>
            </a:r>
          </a:p>
          <a:p>
            <a:pPr algn="l">
              <a:lnSpc>
                <a:spcPts val="4140"/>
              </a:lnSpc>
            </a:pPr>
            <a:r>
              <a:rPr lang="en-US" sz="3450" b="1" spc="-203">
                <a:solidFill>
                  <a:srgbClr val="FBF6F1"/>
                </a:solidFill>
                <a:latin typeface="Times New Roman Bold"/>
                <a:ea typeface="Times New Roman Bold"/>
                <a:cs typeface="Times New Roman Bold"/>
                <a:sym typeface="Times New Roman Bold"/>
              </a:rPr>
              <a:t>PHẠM QUỐC THẮNG </a:t>
            </a:r>
          </a:p>
        </p:txBody>
      </p:sp>
      <p:sp>
        <p:nvSpPr>
          <p:cNvPr id="17" name="TextBox 17"/>
          <p:cNvSpPr txBox="1"/>
          <p:nvPr/>
        </p:nvSpPr>
        <p:spPr>
          <a:xfrm>
            <a:off x="11867263" y="7499064"/>
            <a:ext cx="3196977" cy="1076325"/>
          </a:xfrm>
          <a:prstGeom prst="rect">
            <a:avLst/>
          </a:prstGeom>
        </p:spPr>
        <p:txBody>
          <a:bodyPr lIns="0" tIns="0" rIns="0" bIns="0" rtlCol="0" anchor="t">
            <a:spAutoFit/>
          </a:bodyPr>
          <a:lstStyle/>
          <a:p>
            <a:pPr algn="ctr">
              <a:lnSpc>
                <a:spcPts val="4140"/>
              </a:lnSpc>
            </a:pPr>
            <a:r>
              <a:rPr lang="en-US" sz="3450" b="1" spc="-203">
                <a:solidFill>
                  <a:srgbClr val="FBF6F1"/>
                </a:solidFill>
                <a:latin typeface="Times New Roman Bold"/>
                <a:ea typeface="Times New Roman Bold"/>
                <a:cs typeface="Times New Roman Bold"/>
                <a:sym typeface="Times New Roman Bold"/>
              </a:rPr>
              <a:t>25410313</a:t>
            </a:r>
          </a:p>
          <a:p>
            <a:pPr algn="l">
              <a:lnSpc>
                <a:spcPts val="4140"/>
              </a:lnSpc>
            </a:pPr>
            <a:r>
              <a:rPr lang="en-US" sz="3450" b="1" spc="-203">
                <a:solidFill>
                  <a:srgbClr val="FBF6F1"/>
                </a:solidFill>
                <a:latin typeface="Times New Roman Bold"/>
                <a:ea typeface="Times New Roman Bold"/>
                <a:cs typeface="Times New Roman Bold"/>
                <a:sym typeface="Times New Roman Bold"/>
              </a:rPr>
              <a:t>LÊ MINH THIỆN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GIỚI THIỆU ĐỀ TÀI</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02</a:t>
            </a:r>
          </a:p>
        </p:txBody>
      </p:sp>
      <p:grpSp>
        <p:nvGrpSpPr>
          <p:cNvPr id="9" name="Group 9"/>
          <p:cNvGrpSpPr/>
          <p:nvPr/>
        </p:nvGrpSpPr>
        <p:grpSpPr>
          <a:xfrm>
            <a:off x="822960" y="2674620"/>
            <a:ext cx="8161020" cy="2468880"/>
            <a:chOff x="0" y="0"/>
            <a:chExt cx="10881360" cy="3291840"/>
          </a:xfrm>
        </p:grpSpPr>
        <p:sp>
          <p:nvSpPr>
            <p:cNvPr id="10" name="Freeform 10"/>
            <p:cNvSpPr/>
            <p:nvPr/>
          </p:nvSpPr>
          <p:spPr>
            <a:xfrm>
              <a:off x="0" y="0"/>
              <a:ext cx="10881360" cy="3291840"/>
            </a:xfrm>
            <a:custGeom>
              <a:avLst/>
              <a:gdLst/>
              <a:ahLst/>
              <a:cxnLst/>
              <a:rect l="l" t="t" r="r" b="b"/>
              <a:pathLst>
                <a:path w="10881360" h="3291840">
                  <a:moveTo>
                    <a:pt x="0" y="0"/>
                  </a:moveTo>
                  <a:lnTo>
                    <a:pt x="10881360" y="0"/>
                  </a:lnTo>
                  <a:lnTo>
                    <a:pt x="10881360" y="3291840"/>
                  </a:lnTo>
                  <a:lnTo>
                    <a:pt x="0" y="3291840"/>
                  </a:lnTo>
                  <a:close/>
                </a:path>
              </a:pathLst>
            </a:custGeom>
            <a:solidFill>
              <a:srgbClr val="3885AB"/>
            </a:solidFill>
          </p:spPr>
        </p:sp>
      </p:grpSp>
      <p:sp>
        <p:nvSpPr>
          <p:cNvPr id="11" name="TextBox 11"/>
          <p:cNvSpPr txBox="1"/>
          <p:nvPr/>
        </p:nvSpPr>
        <p:spPr>
          <a:xfrm>
            <a:off x="1088136" y="2842641"/>
            <a:ext cx="1898898" cy="552450"/>
          </a:xfrm>
          <a:prstGeom prst="rect">
            <a:avLst/>
          </a:prstGeom>
        </p:spPr>
        <p:txBody>
          <a:bodyPr lIns="0" tIns="0" rIns="0" bIns="0" rtlCol="0" anchor="t">
            <a:spAutoFit/>
          </a:bodyPr>
          <a:lstStyle/>
          <a:p>
            <a:pPr algn="l">
              <a:lnSpc>
                <a:spcPts val="4140"/>
              </a:lnSpc>
            </a:pPr>
            <a:r>
              <a:rPr lang="en-US" sz="3450" spc="-203">
                <a:solidFill>
                  <a:srgbClr val="FBF6F1"/>
                </a:solidFill>
                <a:latin typeface="Times New Roman"/>
                <a:ea typeface="Times New Roman"/>
                <a:cs typeface="Times New Roman"/>
                <a:sym typeface="Times New Roman"/>
              </a:rPr>
              <a:t>BỐI CẢNH</a:t>
            </a:r>
          </a:p>
        </p:txBody>
      </p:sp>
      <p:sp>
        <p:nvSpPr>
          <p:cNvPr id="12" name="TextBox 12"/>
          <p:cNvSpPr txBox="1"/>
          <p:nvPr/>
        </p:nvSpPr>
        <p:spPr>
          <a:xfrm>
            <a:off x="1088136" y="3633978"/>
            <a:ext cx="7630668" cy="400050"/>
          </a:xfrm>
          <a:prstGeom prst="rect">
            <a:avLst/>
          </a:prstGeom>
        </p:spPr>
        <p:txBody>
          <a:bodyPr lIns="0" tIns="0" rIns="0" bIns="0" rtlCol="0" anchor="t">
            <a:spAutoFit/>
          </a:bodyPr>
          <a:lstStyle/>
          <a:p>
            <a:pPr algn="l">
              <a:lnSpc>
                <a:spcPts val="3060"/>
              </a:lnSpc>
            </a:pPr>
            <a:r>
              <a:rPr lang="en-US" sz="2550" b="1" spc="-150">
                <a:solidFill>
                  <a:srgbClr val="FBF6F1"/>
                </a:solidFill>
                <a:latin typeface="Times New Roman Bold"/>
                <a:ea typeface="Times New Roman Bold"/>
                <a:cs typeface="Times New Roman Bold"/>
                <a:sym typeface="Times New Roman Bold"/>
              </a:rPr>
              <a:t>PHÂN TÍCH GIÁ NIÊM YẾT AIRBNB TẠI BANGKOK.</a:t>
            </a:r>
          </a:p>
        </p:txBody>
      </p:sp>
      <p:grpSp>
        <p:nvGrpSpPr>
          <p:cNvPr id="13" name="Group 13"/>
          <p:cNvGrpSpPr/>
          <p:nvPr/>
        </p:nvGrpSpPr>
        <p:grpSpPr>
          <a:xfrm>
            <a:off x="9326880" y="2674620"/>
            <a:ext cx="8161020" cy="2468880"/>
            <a:chOff x="0" y="0"/>
            <a:chExt cx="10881360" cy="3291840"/>
          </a:xfrm>
        </p:grpSpPr>
        <p:sp>
          <p:nvSpPr>
            <p:cNvPr id="14" name="Freeform 14"/>
            <p:cNvSpPr/>
            <p:nvPr/>
          </p:nvSpPr>
          <p:spPr>
            <a:xfrm>
              <a:off x="0" y="0"/>
              <a:ext cx="10881360" cy="3291840"/>
            </a:xfrm>
            <a:custGeom>
              <a:avLst/>
              <a:gdLst/>
              <a:ahLst/>
              <a:cxnLst/>
              <a:rect l="l" t="t" r="r" b="b"/>
              <a:pathLst>
                <a:path w="10881360" h="3291840">
                  <a:moveTo>
                    <a:pt x="0" y="0"/>
                  </a:moveTo>
                  <a:lnTo>
                    <a:pt x="10881360" y="0"/>
                  </a:lnTo>
                  <a:lnTo>
                    <a:pt x="10881360" y="3291840"/>
                  </a:lnTo>
                  <a:lnTo>
                    <a:pt x="0" y="3291840"/>
                  </a:lnTo>
                  <a:close/>
                </a:path>
              </a:pathLst>
            </a:custGeom>
            <a:solidFill>
              <a:srgbClr val="3885AB"/>
            </a:solidFill>
          </p:spPr>
        </p:sp>
      </p:grpSp>
      <p:sp>
        <p:nvSpPr>
          <p:cNvPr id="15" name="TextBox 15"/>
          <p:cNvSpPr txBox="1"/>
          <p:nvPr/>
        </p:nvSpPr>
        <p:spPr>
          <a:xfrm>
            <a:off x="9592056" y="2842641"/>
            <a:ext cx="2371344" cy="525785"/>
          </a:xfrm>
          <a:prstGeom prst="rect">
            <a:avLst/>
          </a:prstGeom>
        </p:spPr>
        <p:txBody>
          <a:bodyPr wrap="square" lIns="0" tIns="0" rIns="0" bIns="0" rtlCol="0" anchor="t">
            <a:spAutoFit/>
          </a:bodyPr>
          <a:lstStyle/>
          <a:p>
            <a:pPr algn="l">
              <a:lnSpc>
                <a:spcPts val="4140"/>
              </a:lnSpc>
            </a:pPr>
            <a:r>
              <a:rPr lang="en-US" sz="3450" spc="-203" dirty="0">
                <a:solidFill>
                  <a:srgbClr val="FBF6F1"/>
                </a:solidFill>
                <a:latin typeface="Times New Roman"/>
                <a:ea typeface="Times New Roman"/>
                <a:cs typeface="Times New Roman"/>
                <a:sym typeface="Times New Roman"/>
              </a:rPr>
              <a:t>MỤC TIÊU</a:t>
            </a:r>
          </a:p>
        </p:txBody>
      </p:sp>
      <p:sp>
        <p:nvSpPr>
          <p:cNvPr id="16" name="TextBox 16"/>
          <p:cNvSpPr txBox="1"/>
          <p:nvPr/>
        </p:nvSpPr>
        <p:spPr>
          <a:xfrm>
            <a:off x="9592056" y="3633978"/>
            <a:ext cx="7630668" cy="400050"/>
          </a:xfrm>
          <a:prstGeom prst="rect">
            <a:avLst/>
          </a:prstGeom>
        </p:spPr>
        <p:txBody>
          <a:bodyPr lIns="0" tIns="0" rIns="0" bIns="0" rtlCol="0" anchor="t">
            <a:spAutoFit/>
          </a:bodyPr>
          <a:lstStyle/>
          <a:p>
            <a:pPr algn="l">
              <a:lnSpc>
                <a:spcPts val="3060"/>
              </a:lnSpc>
            </a:pPr>
            <a:r>
              <a:rPr lang="en-US" sz="2550" b="1" spc="-150">
                <a:solidFill>
                  <a:srgbClr val="FBF6F1"/>
                </a:solidFill>
                <a:latin typeface="Times New Roman Bold"/>
                <a:ea typeface="Times New Roman Bold"/>
                <a:cs typeface="Times New Roman Bold"/>
                <a:sym typeface="Times New Roman Bold"/>
              </a:rPr>
              <a:t>TÌM HIỂU PHÂN BỐ GIÁ VÀ CÁC YẾU TỐ LIÊN QUAN.</a:t>
            </a:r>
          </a:p>
        </p:txBody>
      </p:sp>
      <p:grpSp>
        <p:nvGrpSpPr>
          <p:cNvPr id="17" name="Group 17"/>
          <p:cNvGrpSpPr/>
          <p:nvPr/>
        </p:nvGrpSpPr>
        <p:grpSpPr>
          <a:xfrm>
            <a:off x="822960" y="5650992"/>
            <a:ext cx="8161020" cy="2468880"/>
            <a:chOff x="0" y="0"/>
            <a:chExt cx="10881360" cy="3291840"/>
          </a:xfrm>
        </p:grpSpPr>
        <p:sp>
          <p:nvSpPr>
            <p:cNvPr id="18" name="Freeform 18"/>
            <p:cNvSpPr/>
            <p:nvPr/>
          </p:nvSpPr>
          <p:spPr>
            <a:xfrm>
              <a:off x="0" y="0"/>
              <a:ext cx="10881360" cy="3291840"/>
            </a:xfrm>
            <a:custGeom>
              <a:avLst/>
              <a:gdLst/>
              <a:ahLst/>
              <a:cxnLst/>
              <a:rect l="l" t="t" r="r" b="b"/>
              <a:pathLst>
                <a:path w="10881360" h="3291840">
                  <a:moveTo>
                    <a:pt x="0" y="0"/>
                  </a:moveTo>
                  <a:lnTo>
                    <a:pt x="10881360" y="0"/>
                  </a:lnTo>
                  <a:lnTo>
                    <a:pt x="10881360" y="3291840"/>
                  </a:lnTo>
                  <a:lnTo>
                    <a:pt x="0" y="3291840"/>
                  </a:lnTo>
                  <a:close/>
                </a:path>
              </a:pathLst>
            </a:custGeom>
            <a:solidFill>
              <a:srgbClr val="3885AB"/>
            </a:solidFill>
          </p:spPr>
        </p:sp>
      </p:grpSp>
      <p:sp>
        <p:nvSpPr>
          <p:cNvPr id="19" name="TextBox 19"/>
          <p:cNvSpPr txBox="1"/>
          <p:nvPr/>
        </p:nvSpPr>
        <p:spPr>
          <a:xfrm>
            <a:off x="1088136" y="5819013"/>
            <a:ext cx="5087987" cy="552450"/>
          </a:xfrm>
          <a:prstGeom prst="rect">
            <a:avLst/>
          </a:prstGeom>
        </p:spPr>
        <p:txBody>
          <a:bodyPr lIns="0" tIns="0" rIns="0" bIns="0" rtlCol="0" anchor="t">
            <a:spAutoFit/>
          </a:bodyPr>
          <a:lstStyle/>
          <a:p>
            <a:pPr algn="l">
              <a:lnSpc>
                <a:spcPts val="4140"/>
              </a:lnSpc>
            </a:pPr>
            <a:r>
              <a:rPr lang="en-US" sz="3450" spc="-203">
                <a:solidFill>
                  <a:srgbClr val="FBF6F1"/>
                </a:solidFill>
                <a:latin typeface="Times New Roman"/>
                <a:ea typeface="Times New Roman"/>
                <a:cs typeface="Times New Roman"/>
                <a:sym typeface="Times New Roman"/>
              </a:rPr>
              <a:t>4 CÂU HỎI ĐỂ NGHIÊN CỨU</a:t>
            </a:r>
          </a:p>
        </p:txBody>
      </p:sp>
      <p:sp>
        <p:nvSpPr>
          <p:cNvPr id="20" name="TextBox 20"/>
          <p:cNvSpPr txBox="1"/>
          <p:nvPr/>
        </p:nvSpPr>
        <p:spPr>
          <a:xfrm>
            <a:off x="1088136" y="6610350"/>
            <a:ext cx="7630668" cy="781050"/>
          </a:xfrm>
          <a:prstGeom prst="rect">
            <a:avLst/>
          </a:prstGeom>
        </p:spPr>
        <p:txBody>
          <a:bodyPr lIns="0" tIns="0" rIns="0" bIns="0" rtlCol="0" anchor="t">
            <a:spAutoFit/>
          </a:bodyPr>
          <a:lstStyle/>
          <a:p>
            <a:pPr algn="l">
              <a:lnSpc>
                <a:spcPts val="3060"/>
              </a:lnSpc>
            </a:pPr>
            <a:r>
              <a:rPr lang="en-US" sz="2550" b="1" spc="-150">
                <a:solidFill>
                  <a:srgbClr val="FBF6F1"/>
                </a:solidFill>
                <a:latin typeface="Times New Roman Bold"/>
                <a:ea typeface="Times New Roman Bold"/>
                <a:cs typeface="Times New Roman Bold"/>
                <a:sym typeface="Times New Roman Bold"/>
              </a:rPr>
              <a:t>PHÂN BỐ GIÁ, LOẠI PHÒNG, QUY MÔ CHỖ Ở VÀ KHU VỰC.</a:t>
            </a:r>
          </a:p>
        </p:txBody>
      </p:sp>
      <p:grpSp>
        <p:nvGrpSpPr>
          <p:cNvPr id="21" name="Group 21"/>
          <p:cNvGrpSpPr/>
          <p:nvPr/>
        </p:nvGrpSpPr>
        <p:grpSpPr>
          <a:xfrm>
            <a:off x="9326880" y="5650992"/>
            <a:ext cx="8161020" cy="2468880"/>
            <a:chOff x="0" y="0"/>
            <a:chExt cx="10881360" cy="3291840"/>
          </a:xfrm>
        </p:grpSpPr>
        <p:sp>
          <p:nvSpPr>
            <p:cNvPr id="22" name="Freeform 22"/>
            <p:cNvSpPr/>
            <p:nvPr/>
          </p:nvSpPr>
          <p:spPr>
            <a:xfrm>
              <a:off x="0" y="0"/>
              <a:ext cx="10881360" cy="3291840"/>
            </a:xfrm>
            <a:custGeom>
              <a:avLst/>
              <a:gdLst/>
              <a:ahLst/>
              <a:cxnLst/>
              <a:rect l="l" t="t" r="r" b="b"/>
              <a:pathLst>
                <a:path w="10881360" h="3291840">
                  <a:moveTo>
                    <a:pt x="0" y="0"/>
                  </a:moveTo>
                  <a:lnTo>
                    <a:pt x="10881360" y="0"/>
                  </a:lnTo>
                  <a:lnTo>
                    <a:pt x="10881360" y="3291840"/>
                  </a:lnTo>
                  <a:lnTo>
                    <a:pt x="0" y="3291840"/>
                  </a:lnTo>
                  <a:close/>
                </a:path>
              </a:pathLst>
            </a:custGeom>
            <a:solidFill>
              <a:srgbClr val="3885AB"/>
            </a:solidFill>
          </p:spPr>
        </p:sp>
      </p:grpSp>
      <p:sp>
        <p:nvSpPr>
          <p:cNvPr id="23" name="TextBox 23"/>
          <p:cNvSpPr txBox="1"/>
          <p:nvPr/>
        </p:nvSpPr>
        <p:spPr>
          <a:xfrm>
            <a:off x="9592056" y="5819013"/>
            <a:ext cx="4117032" cy="552450"/>
          </a:xfrm>
          <a:prstGeom prst="rect">
            <a:avLst/>
          </a:prstGeom>
        </p:spPr>
        <p:txBody>
          <a:bodyPr lIns="0" tIns="0" rIns="0" bIns="0" rtlCol="0" anchor="t">
            <a:spAutoFit/>
          </a:bodyPr>
          <a:lstStyle/>
          <a:p>
            <a:pPr algn="l">
              <a:lnSpc>
                <a:spcPts val="4140"/>
              </a:lnSpc>
            </a:pPr>
            <a:r>
              <a:rPr lang="en-US" sz="3450" spc="-203">
                <a:solidFill>
                  <a:srgbClr val="FBF6F1"/>
                </a:solidFill>
                <a:latin typeface="Times New Roman"/>
                <a:ea typeface="Times New Roman"/>
                <a:cs typeface="Times New Roman"/>
                <a:sym typeface="Times New Roman"/>
              </a:rPr>
              <a:t>CAM KẾT MINH BẠCH</a:t>
            </a:r>
          </a:p>
        </p:txBody>
      </p:sp>
      <p:sp>
        <p:nvSpPr>
          <p:cNvPr id="24" name="TextBox 24"/>
          <p:cNvSpPr txBox="1"/>
          <p:nvPr/>
        </p:nvSpPr>
        <p:spPr>
          <a:xfrm>
            <a:off x="9592056" y="6610350"/>
            <a:ext cx="7630668" cy="781050"/>
          </a:xfrm>
          <a:prstGeom prst="rect">
            <a:avLst/>
          </a:prstGeom>
        </p:spPr>
        <p:txBody>
          <a:bodyPr lIns="0" tIns="0" rIns="0" bIns="0" rtlCol="0" anchor="t">
            <a:spAutoFit/>
          </a:bodyPr>
          <a:lstStyle/>
          <a:p>
            <a:pPr algn="l">
              <a:lnSpc>
                <a:spcPts val="3060"/>
              </a:lnSpc>
            </a:pPr>
            <a:r>
              <a:rPr lang="en-US" sz="2550" b="1" spc="-150">
                <a:solidFill>
                  <a:srgbClr val="FBF6F1"/>
                </a:solidFill>
                <a:latin typeface="Times New Roman Bold"/>
                <a:ea typeface="Times New Roman Bold"/>
                <a:cs typeface="Times New Roman Bold"/>
                <a:sym typeface="Times New Roman Bold"/>
              </a:rPr>
              <a:t>NGUỒN DỮ LIỆU ĐƯỢC TRÍCH DẪN, NHÓM KIỂM TRA KẾT QUẢ VÀ NÊU RÕ GIỚI HẠN PHÂN TÍCH.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DỮ LIỆU: MỘT LISTING TRONG MỘT ĐỢT THU THẬP</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03</a:t>
            </a:r>
          </a:p>
        </p:txBody>
      </p:sp>
      <p:grpSp>
        <p:nvGrpSpPr>
          <p:cNvPr id="9" name="Group 9"/>
          <p:cNvGrpSpPr/>
          <p:nvPr/>
        </p:nvGrpSpPr>
        <p:grpSpPr>
          <a:xfrm>
            <a:off x="822960" y="2674620"/>
            <a:ext cx="5417820" cy="2468880"/>
            <a:chOff x="0" y="0"/>
            <a:chExt cx="7223760" cy="3291840"/>
          </a:xfrm>
        </p:grpSpPr>
        <p:sp>
          <p:nvSpPr>
            <p:cNvPr id="10" name="Freeform 10"/>
            <p:cNvSpPr/>
            <p:nvPr/>
          </p:nvSpPr>
          <p:spPr>
            <a:xfrm>
              <a:off x="0" y="0"/>
              <a:ext cx="7223760" cy="3291840"/>
            </a:xfrm>
            <a:custGeom>
              <a:avLst/>
              <a:gdLst/>
              <a:ahLst/>
              <a:cxnLst/>
              <a:rect l="l" t="t" r="r" b="b"/>
              <a:pathLst>
                <a:path w="7223760" h="3291840">
                  <a:moveTo>
                    <a:pt x="0" y="0"/>
                  </a:moveTo>
                  <a:lnTo>
                    <a:pt x="7223760" y="0"/>
                  </a:lnTo>
                  <a:lnTo>
                    <a:pt x="7223760" y="3291840"/>
                  </a:lnTo>
                  <a:lnTo>
                    <a:pt x="0" y="3291840"/>
                  </a:lnTo>
                  <a:close/>
                </a:path>
              </a:pathLst>
            </a:custGeom>
            <a:solidFill>
              <a:srgbClr val="3885AB"/>
            </a:solidFill>
          </p:spPr>
        </p:sp>
      </p:grpSp>
      <p:sp>
        <p:nvSpPr>
          <p:cNvPr id="11" name="TextBox 11"/>
          <p:cNvSpPr txBox="1"/>
          <p:nvPr/>
        </p:nvSpPr>
        <p:spPr>
          <a:xfrm>
            <a:off x="1088136" y="2842641"/>
            <a:ext cx="1824930" cy="525785"/>
          </a:xfrm>
          <a:prstGeom prst="rect">
            <a:avLst/>
          </a:prstGeom>
        </p:spPr>
        <p:txBody>
          <a:bodyPr lIns="0" tIns="0" rIns="0" bIns="0" rtlCol="0" anchor="t">
            <a:spAutoFit/>
          </a:bodyPr>
          <a:lstStyle/>
          <a:p>
            <a:pPr algn="l">
              <a:lnSpc>
                <a:spcPts val="4140"/>
              </a:lnSpc>
            </a:pPr>
            <a:r>
              <a:rPr lang="en-US" sz="3450" spc="-203" dirty="0">
                <a:solidFill>
                  <a:srgbClr val="FBF6F1"/>
                </a:solidFill>
                <a:latin typeface="Times New Roman"/>
                <a:ea typeface="Times New Roman"/>
                <a:cs typeface="Times New Roman"/>
                <a:sym typeface="Times New Roman"/>
              </a:rPr>
              <a:t>31.069 ×90</a:t>
            </a:r>
          </a:p>
        </p:txBody>
      </p:sp>
      <p:sp>
        <p:nvSpPr>
          <p:cNvPr id="12" name="TextBox 12"/>
          <p:cNvSpPr txBox="1"/>
          <p:nvPr/>
        </p:nvSpPr>
        <p:spPr>
          <a:xfrm>
            <a:off x="1088136" y="3633978"/>
            <a:ext cx="4887468" cy="781050"/>
          </a:xfrm>
          <a:prstGeom prst="rect">
            <a:avLst/>
          </a:prstGeom>
        </p:spPr>
        <p:txBody>
          <a:bodyPr lIns="0" tIns="0" rIns="0" bIns="0" rtlCol="0" anchor="t">
            <a:spAutoFit/>
          </a:bodyPr>
          <a:lstStyle/>
          <a:p>
            <a:pPr algn="l">
              <a:lnSpc>
                <a:spcPts val="3060"/>
              </a:lnSpc>
            </a:pPr>
            <a:r>
              <a:rPr lang="en-US" sz="2550" b="1" spc="-150" dirty="0">
                <a:solidFill>
                  <a:srgbClr val="FBF6F1"/>
                </a:solidFill>
                <a:latin typeface="Times New Roman Bold"/>
                <a:ea typeface="Times New Roman Bold"/>
                <a:cs typeface="Times New Roman Bold"/>
                <a:sym typeface="Times New Roman Bold"/>
              </a:rPr>
              <a:t>DÒNG × CỘT TRONG RAW</a:t>
            </a:r>
          </a:p>
          <a:p>
            <a:pPr algn="l">
              <a:lnSpc>
                <a:spcPts val="3060"/>
              </a:lnSpc>
            </a:pPr>
            <a:r>
              <a:rPr lang="en-US" sz="2550" b="1" spc="-150" dirty="0">
                <a:solidFill>
                  <a:srgbClr val="FBF6F1"/>
                </a:solidFill>
                <a:latin typeface="Times New Roman Bold"/>
                <a:ea typeface="Times New Roman Bold"/>
                <a:cs typeface="Times New Roman Bold"/>
                <a:sym typeface="Times New Roman Bold"/>
              </a:rPr>
              <a:t>31.069 ID DUY NHẤT</a:t>
            </a:r>
          </a:p>
        </p:txBody>
      </p:sp>
      <p:grpSp>
        <p:nvGrpSpPr>
          <p:cNvPr id="13" name="Group 13"/>
          <p:cNvGrpSpPr/>
          <p:nvPr/>
        </p:nvGrpSpPr>
        <p:grpSpPr>
          <a:xfrm>
            <a:off x="6446520" y="2674620"/>
            <a:ext cx="5417820" cy="2468880"/>
            <a:chOff x="0" y="0"/>
            <a:chExt cx="7223760" cy="3291840"/>
          </a:xfrm>
        </p:grpSpPr>
        <p:sp>
          <p:nvSpPr>
            <p:cNvPr id="14" name="Freeform 14"/>
            <p:cNvSpPr/>
            <p:nvPr/>
          </p:nvSpPr>
          <p:spPr>
            <a:xfrm>
              <a:off x="0" y="0"/>
              <a:ext cx="7223760" cy="3291840"/>
            </a:xfrm>
            <a:custGeom>
              <a:avLst/>
              <a:gdLst/>
              <a:ahLst/>
              <a:cxnLst/>
              <a:rect l="l" t="t" r="r" b="b"/>
              <a:pathLst>
                <a:path w="7223760" h="3291840">
                  <a:moveTo>
                    <a:pt x="0" y="0"/>
                  </a:moveTo>
                  <a:lnTo>
                    <a:pt x="7223760" y="0"/>
                  </a:lnTo>
                  <a:lnTo>
                    <a:pt x="7223760" y="3291840"/>
                  </a:lnTo>
                  <a:lnTo>
                    <a:pt x="0" y="3291840"/>
                  </a:lnTo>
                  <a:close/>
                </a:path>
              </a:pathLst>
            </a:custGeom>
            <a:solidFill>
              <a:srgbClr val="3885AB"/>
            </a:solidFill>
          </p:spPr>
        </p:sp>
      </p:grpSp>
      <p:sp>
        <p:nvSpPr>
          <p:cNvPr id="15" name="TextBox 15"/>
          <p:cNvSpPr txBox="1"/>
          <p:nvPr/>
        </p:nvSpPr>
        <p:spPr>
          <a:xfrm>
            <a:off x="6711696" y="2842641"/>
            <a:ext cx="1824930" cy="525785"/>
          </a:xfrm>
          <a:prstGeom prst="rect">
            <a:avLst/>
          </a:prstGeom>
        </p:spPr>
        <p:txBody>
          <a:bodyPr lIns="0" tIns="0" rIns="0" bIns="0" rtlCol="0" anchor="t">
            <a:spAutoFit/>
          </a:bodyPr>
          <a:lstStyle/>
          <a:p>
            <a:pPr algn="l">
              <a:lnSpc>
                <a:spcPts val="4140"/>
              </a:lnSpc>
            </a:pPr>
            <a:r>
              <a:rPr lang="en-US" sz="3450" spc="-203" dirty="0">
                <a:solidFill>
                  <a:srgbClr val="FBF6F1"/>
                </a:solidFill>
                <a:latin typeface="Times New Roman"/>
                <a:ea typeface="Times New Roman"/>
                <a:cs typeface="Times New Roman"/>
                <a:sym typeface="Times New Roman"/>
              </a:rPr>
              <a:t>28.987 ×16</a:t>
            </a:r>
          </a:p>
        </p:txBody>
      </p:sp>
      <p:sp>
        <p:nvSpPr>
          <p:cNvPr id="16" name="TextBox 16"/>
          <p:cNvSpPr txBox="1"/>
          <p:nvPr/>
        </p:nvSpPr>
        <p:spPr>
          <a:xfrm>
            <a:off x="6711696" y="3633978"/>
            <a:ext cx="4887468" cy="781050"/>
          </a:xfrm>
          <a:prstGeom prst="rect">
            <a:avLst/>
          </a:prstGeom>
        </p:spPr>
        <p:txBody>
          <a:bodyPr lIns="0" tIns="0" rIns="0" bIns="0" rtlCol="0" anchor="t">
            <a:spAutoFit/>
          </a:bodyPr>
          <a:lstStyle/>
          <a:p>
            <a:pPr algn="l">
              <a:lnSpc>
                <a:spcPts val="3060"/>
              </a:lnSpc>
            </a:pPr>
            <a:r>
              <a:rPr lang="en-US" sz="2550" b="1" spc="-150">
                <a:solidFill>
                  <a:srgbClr val="FBF6F1"/>
                </a:solidFill>
                <a:latin typeface="Times New Roman Bold"/>
                <a:ea typeface="Times New Roman Bold"/>
                <a:cs typeface="Times New Roman Bold"/>
                <a:sym typeface="Times New Roman Bold"/>
              </a:rPr>
              <a:t>BASELINE SAU LÀM SẠCH</a:t>
            </a:r>
          </a:p>
          <a:p>
            <a:pPr algn="l">
              <a:lnSpc>
                <a:spcPts val="3060"/>
              </a:lnSpc>
            </a:pPr>
            <a:r>
              <a:rPr lang="en-US" sz="2550" b="1" spc="-150">
                <a:solidFill>
                  <a:srgbClr val="FBF6F1"/>
                </a:solidFill>
                <a:latin typeface="Times New Roman Bold"/>
                <a:ea typeface="Times New Roman Bold"/>
                <a:cs typeface="Times New Roman Bold"/>
                <a:sym typeface="Times New Roman Bold"/>
              </a:rPr>
              <a:t>12 BIẾN CHÍNH + 4 CỘT TRUY VẾT</a:t>
            </a:r>
          </a:p>
        </p:txBody>
      </p:sp>
      <p:grpSp>
        <p:nvGrpSpPr>
          <p:cNvPr id="17" name="Group 17"/>
          <p:cNvGrpSpPr/>
          <p:nvPr/>
        </p:nvGrpSpPr>
        <p:grpSpPr>
          <a:xfrm>
            <a:off x="12070080" y="2674620"/>
            <a:ext cx="5417820" cy="2468880"/>
            <a:chOff x="0" y="0"/>
            <a:chExt cx="7223760" cy="3291840"/>
          </a:xfrm>
        </p:grpSpPr>
        <p:sp>
          <p:nvSpPr>
            <p:cNvPr id="18" name="Freeform 18"/>
            <p:cNvSpPr/>
            <p:nvPr/>
          </p:nvSpPr>
          <p:spPr>
            <a:xfrm>
              <a:off x="0" y="0"/>
              <a:ext cx="7223760" cy="3291840"/>
            </a:xfrm>
            <a:custGeom>
              <a:avLst/>
              <a:gdLst/>
              <a:ahLst/>
              <a:cxnLst/>
              <a:rect l="l" t="t" r="r" b="b"/>
              <a:pathLst>
                <a:path w="7223760" h="3291840">
                  <a:moveTo>
                    <a:pt x="0" y="0"/>
                  </a:moveTo>
                  <a:lnTo>
                    <a:pt x="7223760" y="0"/>
                  </a:lnTo>
                  <a:lnTo>
                    <a:pt x="7223760" y="3291840"/>
                  </a:lnTo>
                  <a:lnTo>
                    <a:pt x="0" y="3291840"/>
                  </a:lnTo>
                  <a:close/>
                </a:path>
              </a:pathLst>
            </a:custGeom>
            <a:solidFill>
              <a:srgbClr val="3885AB"/>
            </a:solidFill>
          </p:spPr>
        </p:sp>
      </p:grpSp>
      <p:sp>
        <p:nvSpPr>
          <p:cNvPr id="19" name="TextBox 19"/>
          <p:cNvSpPr txBox="1"/>
          <p:nvPr/>
        </p:nvSpPr>
        <p:spPr>
          <a:xfrm>
            <a:off x="12335256" y="2842641"/>
            <a:ext cx="1958132" cy="525785"/>
          </a:xfrm>
          <a:prstGeom prst="rect">
            <a:avLst/>
          </a:prstGeom>
        </p:spPr>
        <p:txBody>
          <a:bodyPr lIns="0" tIns="0" rIns="0" bIns="0" rtlCol="0" anchor="t">
            <a:spAutoFit/>
          </a:bodyPr>
          <a:lstStyle/>
          <a:p>
            <a:pPr algn="l">
              <a:lnSpc>
                <a:spcPts val="4140"/>
              </a:lnSpc>
            </a:pPr>
            <a:r>
              <a:rPr lang="en-US" sz="3450" spc="-203" dirty="0">
                <a:solidFill>
                  <a:srgbClr val="FBF6F1"/>
                </a:solidFill>
                <a:latin typeface="Times New Roman"/>
                <a:ea typeface="Times New Roman"/>
                <a:cs typeface="Times New Roman"/>
                <a:sym typeface="Times New Roman"/>
              </a:rPr>
              <a:t>THB /ĐÊM</a:t>
            </a:r>
          </a:p>
        </p:txBody>
      </p:sp>
      <p:sp>
        <p:nvSpPr>
          <p:cNvPr id="20" name="TextBox 20"/>
          <p:cNvSpPr txBox="1"/>
          <p:nvPr/>
        </p:nvSpPr>
        <p:spPr>
          <a:xfrm>
            <a:off x="12335256" y="3633978"/>
            <a:ext cx="4887468" cy="781050"/>
          </a:xfrm>
          <a:prstGeom prst="rect">
            <a:avLst/>
          </a:prstGeom>
        </p:spPr>
        <p:txBody>
          <a:bodyPr lIns="0" tIns="0" rIns="0" bIns="0" rtlCol="0" anchor="t">
            <a:spAutoFit/>
          </a:bodyPr>
          <a:lstStyle/>
          <a:p>
            <a:pPr algn="l">
              <a:lnSpc>
                <a:spcPts val="3060"/>
              </a:lnSpc>
            </a:pPr>
            <a:r>
              <a:rPr lang="en-US" sz="2550" b="1" spc="-150" dirty="0">
                <a:solidFill>
                  <a:srgbClr val="FBF6F1"/>
                </a:solidFill>
                <a:latin typeface="Times New Roman Bold"/>
                <a:ea typeface="Times New Roman Bold"/>
                <a:cs typeface="Times New Roman Bold"/>
                <a:sym typeface="Times New Roman Bold"/>
              </a:rPr>
              <a:t>BÁO GIÁ NIÊM YẾT</a:t>
            </a:r>
          </a:p>
          <a:p>
            <a:pPr algn="l">
              <a:lnSpc>
                <a:spcPts val="3060"/>
              </a:lnSpc>
            </a:pPr>
            <a:r>
              <a:rPr lang="en-US" sz="2550" b="1" spc="-150" dirty="0">
                <a:solidFill>
                  <a:srgbClr val="FBF6F1"/>
                </a:solidFill>
                <a:latin typeface="Times New Roman Bold"/>
                <a:ea typeface="Times New Roman Bold"/>
                <a:cs typeface="Times New Roman Bold"/>
                <a:sym typeface="Times New Roman Bold"/>
              </a:rPr>
              <a:t>CHƯA XÁC MINH ĐỦ THUẾ/PHÍ</a:t>
            </a:r>
          </a:p>
        </p:txBody>
      </p:sp>
      <p:sp>
        <p:nvSpPr>
          <p:cNvPr id="21" name="TextBox 21"/>
          <p:cNvSpPr txBox="1"/>
          <p:nvPr/>
        </p:nvSpPr>
        <p:spPr>
          <a:xfrm>
            <a:off x="978408" y="5897118"/>
            <a:ext cx="16148304" cy="1447800"/>
          </a:xfrm>
          <a:prstGeom prst="rect">
            <a:avLst/>
          </a:prstGeom>
        </p:spPr>
        <p:txBody>
          <a:bodyPr lIns="0" tIns="0" rIns="0" bIns="0" rtlCol="0" anchor="t">
            <a:spAutoFit/>
          </a:bodyPr>
          <a:lstStyle/>
          <a:p>
            <a:pPr algn="l">
              <a:lnSpc>
                <a:spcPts val="3779"/>
              </a:lnSpc>
            </a:pPr>
            <a:r>
              <a:rPr lang="en-US" sz="3150" spc="-185" dirty="0">
                <a:solidFill>
                  <a:srgbClr val="185079"/>
                </a:solidFill>
                <a:latin typeface="Times New Roman"/>
                <a:ea typeface="Times New Roman"/>
                <a:cs typeface="Times New Roman"/>
                <a:sym typeface="Times New Roman"/>
              </a:rPr>
              <a:t>BIẾN CHÍNH: PRICE; ROOM_TYPE, PROPERTY_TYPE, NEIGHBOURHOOD_CLEANSED, HOST_IS_SUPERHOST; ACCOMMODATES, BEDROOMS, BATHROOMS, BEDS, MINIMUM_NIGHTS, NUMBER_OF_REVIEWS, REVIEW_SCORES_RATING.</a:t>
            </a:r>
          </a:p>
        </p:txBody>
      </p:sp>
      <p:sp>
        <p:nvSpPr>
          <p:cNvPr id="22" name="TextBox 22"/>
          <p:cNvSpPr txBox="1"/>
          <p:nvPr/>
        </p:nvSpPr>
        <p:spPr>
          <a:xfrm>
            <a:off x="978408" y="8228838"/>
            <a:ext cx="16422624" cy="495300"/>
          </a:xfrm>
          <a:prstGeom prst="rect">
            <a:avLst/>
          </a:prstGeom>
        </p:spPr>
        <p:txBody>
          <a:bodyPr lIns="0" tIns="0" rIns="0" bIns="0" rtlCol="0" anchor="t">
            <a:spAutoFit/>
          </a:bodyPr>
          <a:lstStyle/>
          <a:p>
            <a:pPr algn="l">
              <a:lnSpc>
                <a:spcPts val="3779"/>
              </a:lnSpc>
            </a:pPr>
            <a:r>
              <a:rPr lang="en-US" sz="3150" spc="-185">
                <a:solidFill>
                  <a:srgbClr val="185079"/>
                </a:solidFill>
                <a:latin typeface="Times New Roman"/>
                <a:ea typeface="Times New Roman"/>
                <a:cs typeface="Times New Roman"/>
                <a:sym typeface="Times New Roman"/>
              </a:rPr>
              <a:t>7.231 HOST • 3.215 HOST CÓ NHIỀU LISTING → QUAN SÁT CÓ THỂ PHỤ THUỘC.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3885AB"/>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LÀM SẠCH CÓ NHẬT KÝ, GIỮ NGUYÊN DỮ LIỆU THÔ</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04</a:t>
            </a:r>
          </a:p>
        </p:txBody>
      </p:sp>
      <p:grpSp>
        <p:nvGrpSpPr>
          <p:cNvPr id="9" name="Group 9"/>
          <p:cNvGrpSpPr/>
          <p:nvPr/>
        </p:nvGrpSpPr>
        <p:grpSpPr>
          <a:xfrm>
            <a:off x="4565466" y="2606040"/>
            <a:ext cx="9111339" cy="2125980"/>
            <a:chOff x="0" y="0"/>
            <a:chExt cx="12148452" cy="2834640"/>
          </a:xfrm>
        </p:grpSpPr>
        <p:sp>
          <p:nvSpPr>
            <p:cNvPr id="10" name="Freeform 10" descr="report_analysis_flow.png"/>
            <p:cNvSpPr/>
            <p:nvPr/>
          </p:nvSpPr>
          <p:spPr>
            <a:xfrm>
              <a:off x="0" y="0"/>
              <a:ext cx="12148439" cy="2834640"/>
            </a:xfrm>
            <a:custGeom>
              <a:avLst/>
              <a:gdLst/>
              <a:ahLst/>
              <a:cxnLst/>
              <a:rect l="l" t="t" r="r" b="b"/>
              <a:pathLst>
                <a:path w="12148439" h="2834640">
                  <a:moveTo>
                    <a:pt x="0" y="0"/>
                  </a:moveTo>
                  <a:lnTo>
                    <a:pt x="12148439" y="0"/>
                  </a:lnTo>
                  <a:lnTo>
                    <a:pt x="12148439" y="2834640"/>
                  </a:lnTo>
                  <a:lnTo>
                    <a:pt x="0" y="2834640"/>
                  </a:lnTo>
                  <a:lnTo>
                    <a:pt x="0" y="0"/>
                  </a:lnTo>
                  <a:close/>
                </a:path>
              </a:pathLst>
            </a:custGeom>
            <a:blipFill>
              <a:blip r:embed="rId3"/>
              <a:stretch>
                <a:fillRect/>
              </a:stretch>
            </a:blipFill>
          </p:spPr>
        </p:sp>
      </p:grpSp>
      <p:sp>
        <p:nvSpPr>
          <p:cNvPr id="11" name="TextBox 11"/>
          <p:cNvSpPr txBox="1"/>
          <p:nvPr/>
        </p:nvSpPr>
        <p:spPr>
          <a:xfrm>
            <a:off x="1780103" y="5198745"/>
            <a:ext cx="16148304" cy="2124075"/>
          </a:xfrm>
          <a:prstGeom prst="rect">
            <a:avLst/>
          </a:prstGeom>
        </p:spPr>
        <p:txBody>
          <a:bodyPr lIns="0" tIns="0" rIns="0" bIns="0" rtlCol="0" anchor="t">
            <a:spAutoFit/>
          </a:bodyPr>
          <a:lstStyle/>
          <a:p>
            <a:pPr algn="l">
              <a:lnSpc>
                <a:spcPts val="4140"/>
              </a:lnSpc>
            </a:pPr>
            <a:r>
              <a:rPr lang="en-US" sz="3450" spc="-203">
                <a:solidFill>
                  <a:srgbClr val="185079"/>
                </a:solidFill>
                <a:latin typeface="Times New Roman"/>
                <a:ea typeface="Times New Roman"/>
                <a:cs typeface="Times New Roman"/>
                <a:sym typeface="Times New Roman"/>
              </a:rPr>
              <a:t>2.082 DÒNG THIẾU GIÁ: LOẠI BỎ, KHÔNG ĐIỀN GIÁ MỤC TIÊU.</a:t>
            </a:r>
          </a:p>
          <a:p>
            <a:pPr algn="l">
              <a:lnSpc>
                <a:spcPts val="4140"/>
              </a:lnSpc>
            </a:pPr>
            <a:r>
              <a:rPr lang="en-US" sz="3450" spc="-203">
                <a:solidFill>
                  <a:srgbClr val="185079"/>
                </a:solidFill>
                <a:latin typeface="Times New Roman"/>
                <a:ea typeface="Times New Roman"/>
                <a:cs typeface="Times New Roman"/>
                <a:sym typeface="Times New Roman"/>
              </a:rPr>
              <a:t>2.730 NGOẠI LỆ IQR: ĐÁNH DẤU ĐỂ RÀ SOÁT, GIỮ TRONG PHÂN TÍCH.</a:t>
            </a:r>
          </a:p>
          <a:p>
            <a:pPr algn="l">
              <a:lnSpc>
                <a:spcPts val="4140"/>
              </a:lnSpc>
            </a:pPr>
            <a:r>
              <a:rPr lang="en-US" sz="3450" spc="-203">
                <a:solidFill>
                  <a:srgbClr val="185079"/>
                </a:solidFill>
                <a:latin typeface="Times New Roman"/>
                <a:ea typeface="Times New Roman"/>
                <a:cs typeface="Times New Roman"/>
                <a:sym typeface="Times New Roman"/>
              </a:rPr>
              <a:t>MISSING PREDICTOR: GIỮ Ở BASELINE, CÔNG BỐ N CHO MỖI PHÉP TÍNH.</a:t>
            </a:r>
          </a:p>
          <a:p>
            <a:pPr algn="l">
              <a:lnSpc>
                <a:spcPts val="4140"/>
              </a:lnSpc>
            </a:pPr>
            <a:r>
              <a:rPr lang="en-US" sz="3450" spc="-203">
                <a:solidFill>
                  <a:srgbClr val="185079"/>
                </a:solidFill>
                <a:latin typeface="Times New Roman"/>
                <a:ea typeface="Times New Roman"/>
                <a:cs typeface="Times New Roman"/>
                <a:sym typeface="Times New Roman"/>
              </a:rPr>
              <a:t>CÁC CỘT BÁO GIÁ/REVENUE, ID VÀ HOST_ID: KHÔNG LÀM PREDICTOR.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3885AB"/>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RQ1 • TRUNG BÌNH CAO HƠN NHIỀU SO VỚI TRUNG VỊ</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05</a:t>
            </a:r>
          </a:p>
        </p:txBody>
      </p:sp>
      <p:grpSp>
        <p:nvGrpSpPr>
          <p:cNvPr id="9" name="Group 9"/>
          <p:cNvGrpSpPr/>
          <p:nvPr/>
        </p:nvGrpSpPr>
        <p:grpSpPr>
          <a:xfrm>
            <a:off x="617220" y="3328702"/>
            <a:ext cx="12824460" cy="4809172"/>
            <a:chOff x="0" y="0"/>
            <a:chExt cx="17099280" cy="6412230"/>
          </a:xfrm>
        </p:grpSpPr>
        <p:sp>
          <p:nvSpPr>
            <p:cNvPr id="10" name="Freeform 10" descr="fig1_price_distribution.png"/>
            <p:cNvSpPr/>
            <p:nvPr/>
          </p:nvSpPr>
          <p:spPr>
            <a:xfrm>
              <a:off x="0" y="0"/>
              <a:ext cx="17099280" cy="6412230"/>
            </a:xfrm>
            <a:custGeom>
              <a:avLst/>
              <a:gdLst/>
              <a:ahLst/>
              <a:cxnLst/>
              <a:rect l="l" t="t" r="r" b="b"/>
              <a:pathLst>
                <a:path w="17099280" h="6412230">
                  <a:moveTo>
                    <a:pt x="0" y="0"/>
                  </a:moveTo>
                  <a:lnTo>
                    <a:pt x="17099280" y="0"/>
                  </a:lnTo>
                  <a:lnTo>
                    <a:pt x="17099280" y="6412230"/>
                  </a:lnTo>
                  <a:lnTo>
                    <a:pt x="0" y="6412230"/>
                  </a:lnTo>
                  <a:lnTo>
                    <a:pt x="0" y="0"/>
                  </a:lnTo>
                  <a:close/>
                </a:path>
              </a:pathLst>
            </a:custGeom>
            <a:blipFill>
              <a:blip r:embed="rId3"/>
              <a:stretch>
                <a:fillRect/>
              </a:stretch>
            </a:blipFill>
          </p:spPr>
        </p:sp>
      </p:grpSp>
      <p:sp>
        <p:nvSpPr>
          <p:cNvPr id="11" name="TextBox 11"/>
          <p:cNvSpPr txBox="1"/>
          <p:nvPr/>
        </p:nvSpPr>
        <p:spPr>
          <a:xfrm>
            <a:off x="13523976" y="3300127"/>
            <a:ext cx="3735324" cy="942975"/>
          </a:xfrm>
          <a:prstGeom prst="rect">
            <a:avLst/>
          </a:prstGeom>
        </p:spPr>
        <p:txBody>
          <a:bodyPr lIns="0" tIns="0" rIns="0" bIns="0" rtlCol="0" anchor="t">
            <a:spAutoFit/>
          </a:bodyPr>
          <a:lstStyle/>
          <a:p>
            <a:pPr algn="l">
              <a:lnSpc>
                <a:spcPts val="3600"/>
              </a:lnSpc>
            </a:pPr>
            <a:r>
              <a:rPr lang="en-US" sz="3000" spc="-177">
                <a:solidFill>
                  <a:srgbClr val="185079"/>
                </a:solidFill>
                <a:latin typeface="Times New Roman"/>
                <a:ea typeface="Times New Roman"/>
                <a:cs typeface="Times New Roman"/>
                <a:sym typeface="Times New Roman"/>
              </a:rPr>
              <a:t>TRUNG VỊ: </a:t>
            </a:r>
          </a:p>
          <a:p>
            <a:pPr algn="l">
              <a:lnSpc>
                <a:spcPts val="3600"/>
              </a:lnSpc>
            </a:pPr>
            <a:r>
              <a:rPr lang="en-US" sz="3000" spc="-177">
                <a:solidFill>
                  <a:srgbClr val="185079"/>
                </a:solidFill>
                <a:latin typeface="Times New Roman"/>
                <a:ea typeface="Times New Roman"/>
                <a:cs typeface="Times New Roman"/>
                <a:sym typeface="Times New Roman"/>
              </a:rPr>
              <a:t>1.592 THB/ĐÊM</a:t>
            </a:r>
          </a:p>
        </p:txBody>
      </p:sp>
      <p:sp>
        <p:nvSpPr>
          <p:cNvPr id="12" name="TextBox 12"/>
          <p:cNvSpPr txBox="1"/>
          <p:nvPr/>
        </p:nvSpPr>
        <p:spPr>
          <a:xfrm>
            <a:off x="13523976" y="4599813"/>
            <a:ext cx="3735324" cy="942975"/>
          </a:xfrm>
          <a:prstGeom prst="rect">
            <a:avLst/>
          </a:prstGeom>
        </p:spPr>
        <p:txBody>
          <a:bodyPr lIns="0" tIns="0" rIns="0" bIns="0" rtlCol="0" anchor="t">
            <a:spAutoFit/>
          </a:bodyPr>
          <a:lstStyle/>
          <a:p>
            <a:pPr algn="l">
              <a:lnSpc>
                <a:spcPts val="3600"/>
              </a:lnSpc>
            </a:pPr>
            <a:r>
              <a:rPr lang="en-US" sz="3000" spc="-177">
                <a:solidFill>
                  <a:srgbClr val="185079"/>
                </a:solidFill>
                <a:latin typeface="Times New Roman"/>
                <a:ea typeface="Times New Roman"/>
                <a:cs typeface="Times New Roman"/>
                <a:sym typeface="Times New Roman"/>
              </a:rPr>
              <a:t>TRUNG BÌNH: </a:t>
            </a:r>
          </a:p>
          <a:p>
            <a:pPr algn="l">
              <a:lnSpc>
                <a:spcPts val="3600"/>
              </a:lnSpc>
            </a:pPr>
            <a:r>
              <a:rPr lang="en-US" sz="3000" spc="-177">
                <a:solidFill>
                  <a:srgbClr val="185079"/>
                </a:solidFill>
                <a:latin typeface="Times New Roman"/>
                <a:ea typeface="Times New Roman"/>
                <a:cs typeface="Times New Roman"/>
                <a:sym typeface="Times New Roman"/>
              </a:rPr>
              <a:t>2.955,96 THB/ĐÊM</a:t>
            </a:r>
          </a:p>
        </p:txBody>
      </p:sp>
      <p:sp>
        <p:nvSpPr>
          <p:cNvPr id="13" name="TextBox 13"/>
          <p:cNvSpPr txBox="1"/>
          <p:nvPr/>
        </p:nvSpPr>
        <p:spPr>
          <a:xfrm>
            <a:off x="13523976" y="7535656"/>
            <a:ext cx="3735324" cy="942975"/>
          </a:xfrm>
          <a:prstGeom prst="rect">
            <a:avLst/>
          </a:prstGeom>
        </p:spPr>
        <p:txBody>
          <a:bodyPr lIns="0" tIns="0" rIns="0" bIns="0" rtlCol="0" anchor="t">
            <a:spAutoFit/>
          </a:bodyPr>
          <a:lstStyle/>
          <a:p>
            <a:pPr algn="l">
              <a:lnSpc>
                <a:spcPts val="3600"/>
              </a:lnSpc>
            </a:pPr>
            <a:r>
              <a:rPr lang="en-US" sz="3000" spc="-177">
                <a:solidFill>
                  <a:srgbClr val="185079"/>
                </a:solidFill>
                <a:latin typeface="Times New Roman"/>
                <a:ea typeface="Times New Roman"/>
                <a:cs typeface="Times New Roman"/>
                <a:sym typeface="Times New Roman"/>
              </a:rPr>
              <a:t>CÓ 2.730 NGOẠI LỆ IQR, CHIẾM 9,42%.</a:t>
            </a:r>
          </a:p>
        </p:txBody>
      </p:sp>
      <p:sp>
        <p:nvSpPr>
          <p:cNvPr id="14" name="TextBox 14"/>
          <p:cNvSpPr txBox="1"/>
          <p:nvPr/>
        </p:nvSpPr>
        <p:spPr>
          <a:xfrm>
            <a:off x="13523976" y="6125956"/>
            <a:ext cx="3735324" cy="942975"/>
          </a:xfrm>
          <a:prstGeom prst="rect">
            <a:avLst/>
          </a:prstGeom>
        </p:spPr>
        <p:txBody>
          <a:bodyPr lIns="0" tIns="0" rIns="0" bIns="0" rtlCol="0" anchor="t">
            <a:spAutoFit/>
          </a:bodyPr>
          <a:lstStyle/>
          <a:p>
            <a:pPr algn="l">
              <a:lnSpc>
                <a:spcPts val="3600"/>
              </a:lnSpc>
            </a:pPr>
            <a:r>
              <a:rPr lang="en-US" sz="3000" spc="-177">
                <a:solidFill>
                  <a:srgbClr val="185079"/>
                </a:solidFill>
                <a:latin typeface="Times New Roman"/>
                <a:ea typeface="Times New Roman"/>
                <a:cs typeface="Times New Roman"/>
                <a:sym typeface="Times New Roman"/>
              </a:rPr>
              <a:t>Q1–Q3: 1.041,47–2.539,57 THB/ĐÊM.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3885AB"/>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RQ2 • SO SÁNH GIÁ CẦN XÉT LOẠI PHÒNG</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a:solidFill>
                  <a:srgbClr val="185079"/>
                </a:solidFill>
                <a:latin typeface="Times New Roman Bold"/>
                <a:ea typeface="Times New Roman Bold"/>
                <a:cs typeface="Times New Roman Bold"/>
                <a:sym typeface="Times New Roman Bold"/>
              </a:rPr>
              <a:t>06</a:t>
            </a:r>
          </a:p>
        </p:txBody>
      </p:sp>
      <p:grpSp>
        <p:nvGrpSpPr>
          <p:cNvPr id="9" name="Group 9"/>
          <p:cNvGrpSpPr/>
          <p:nvPr/>
        </p:nvGrpSpPr>
        <p:grpSpPr>
          <a:xfrm>
            <a:off x="617220" y="3232690"/>
            <a:ext cx="12824460" cy="4809172"/>
            <a:chOff x="0" y="0"/>
            <a:chExt cx="17099280" cy="6412230"/>
          </a:xfrm>
        </p:grpSpPr>
        <p:sp>
          <p:nvSpPr>
            <p:cNvPr id="10" name="Freeform 10" descr="fig2_price_by_room_type.png"/>
            <p:cNvSpPr/>
            <p:nvPr/>
          </p:nvSpPr>
          <p:spPr>
            <a:xfrm>
              <a:off x="0" y="0"/>
              <a:ext cx="17099280" cy="6412230"/>
            </a:xfrm>
            <a:custGeom>
              <a:avLst/>
              <a:gdLst/>
              <a:ahLst/>
              <a:cxnLst/>
              <a:rect l="l" t="t" r="r" b="b"/>
              <a:pathLst>
                <a:path w="17099280" h="6412230">
                  <a:moveTo>
                    <a:pt x="0" y="0"/>
                  </a:moveTo>
                  <a:lnTo>
                    <a:pt x="17099280" y="0"/>
                  </a:lnTo>
                  <a:lnTo>
                    <a:pt x="17099280" y="6412230"/>
                  </a:lnTo>
                  <a:lnTo>
                    <a:pt x="0" y="6412230"/>
                  </a:lnTo>
                  <a:lnTo>
                    <a:pt x="0" y="0"/>
                  </a:lnTo>
                  <a:close/>
                </a:path>
              </a:pathLst>
            </a:custGeom>
            <a:blipFill>
              <a:blip r:embed="rId3"/>
              <a:stretch>
                <a:fillRect/>
              </a:stretch>
            </a:blipFill>
          </p:spPr>
        </p:sp>
      </p:grpSp>
      <p:sp>
        <p:nvSpPr>
          <p:cNvPr id="11" name="TextBox 11"/>
          <p:cNvSpPr txBox="1"/>
          <p:nvPr/>
        </p:nvSpPr>
        <p:spPr>
          <a:xfrm>
            <a:off x="13734288" y="3353943"/>
            <a:ext cx="3735324" cy="723900"/>
          </a:xfrm>
          <a:prstGeom prst="rect">
            <a:avLst/>
          </a:prstGeom>
        </p:spPr>
        <p:txBody>
          <a:bodyPr lIns="0" tIns="0" rIns="0" bIns="0" rtlCol="0" anchor="t">
            <a:spAutoFit/>
          </a:bodyPr>
          <a:lstStyle/>
          <a:p>
            <a:pPr algn="l">
              <a:lnSpc>
                <a:spcPts val="5580"/>
              </a:lnSpc>
            </a:pPr>
            <a:r>
              <a:rPr lang="en-US" sz="4650" spc="-274">
                <a:solidFill>
                  <a:srgbClr val="185079"/>
                </a:solidFill>
                <a:latin typeface="Times New Roman"/>
                <a:ea typeface="Times New Roman"/>
                <a:cs typeface="Times New Roman"/>
                <a:sym typeface="Times New Roman"/>
              </a:rPr>
              <a:t>431,22</a:t>
            </a:r>
          </a:p>
        </p:txBody>
      </p:sp>
      <p:sp>
        <p:nvSpPr>
          <p:cNvPr id="12" name="TextBox 12"/>
          <p:cNvSpPr txBox="1"/>
          <p:nvPr/>
        </p:nvSpPr>
        <p:spPr>
          <a:xfrm>
            <a:off x="13639911" y="4260342"/>
            <a:ext cx="3735324" cy="838200"/>
          </a:xfrm>
          <a:prstGeom prst="rect">
            <a:avLst/>
          </a:prstGeom>
        </p:spPr>
        <p:txBody>
          <a:bodyPr lIns="0" tIns="0" rIns="0" bIns="0" rtlCol="0" anchor="t">
            <a:spAutoFit/>
          </a:bodyPr>
          <a:lstStyle/>
          <a:p>
            <a:pPr algn="l">
              <a:lnSpc>
                <a:spcPts val="3240"/>
              </a:lnSpc>
            </a:pPr>
            <a:r>
              <a:rPr lang="en-US" sz="2700" spc="-159">
                <a:solidFill>
                  <a:srgbClr val="185079"/>
                </a:solidFill>
                <a:latin typeface="Times New Roman"/>
                <a:ea typeface="Times New Roman"/>
                <a:cs typeface="Times New Roman"/>
                <a:sym typeface="Times New Roman"/>
              </a:rPr>
              <a:t>SHARED ROOM</a:t>
            </a:r>
          </a:p>
          <a:p>
            <a:pPr algn="l">
              <a:lnSpc>
                <a:spcPts val="3240"/>
              </a:lnSpc>
            </a:pPr>
            <a:r>
              <a:rPr lang="en-US" sz="2700" spc="-159">
                <a:solidFill>
                  <a:srgbClr val="185079"/>
                </a:solidFill>
                <a:latin typeface="Times New Roman"/>
                <a:ea typeface="Times New Roman"/>
                <a:cs typeface="Times New Roman"/>
                <a:sym typeface="Times New Roman"/>
              </a:rPr>
              <a:t>MEDIAN THB/ĐÊM</a:t>
            </a:r>
          </a:p>
        </p:txBody>
      </p:sp>
      <p:sp>
        <p:nvSpPr>
          <p:cNvPr id="13" name="TextBox 13"/>
          <p:cNvSpPr txBox="1"/>
          <p:nvPr/>
        </p:nvSpPr>
        <p:spPr>
          <a:xfrm>
            <a:off x="13734288" y="6017704"/>
            <a:ext cx="3735324" cy="723900"/>
          </a:xfrm>
          <a:prstGeom prst="rect">
            <a:avLst/>
          </a:prstGeom>
        </p:spPr>
        <p:txBody>
          <a:bodyPr lIns="0" tIns="0" rIns="0" bIns="0" rtlCol="0" anchor="t">
            <a:spAutoFit/>
          </a:bodyPr>
          <a:lstStyle/>
          <a:p>
            <a:pPr algn="l">
              <a:lnSpc>
                <a:spcPts val="5580"/>
              </a:lnSpc>
            </a:pPr>
            <a:r>
              <a:rPr lang="en-US" sz="4650" spc="-274">
                <a:solidFill>
                  <a:srgbClr val="185079"/>
                </a:solidFill>
                <a:latin typeface="Times New Roman"/>
                <a:ea typeface="Times New Roman"/>
                <a:cs typeface="Times New Roman"/>
                <a:sym typeface="Times New Roman"/>
              </a:rPr>
              <a:t>1.715,44</a:t>
            </a:r>
          </a:p>
        </p:txBody>
      </p:sp>
      <p:sp>
        <p:nvSpPr>
          <p:cNvPr id="14" name="TextBox 14"/>
          <p:cNvSpPr txBox="1"/>
          <p:nvPr/>
        </p:nvSpPr>
        <p:spPr>
          <a:xfrm>
            <a:off x="13734288" y="7114984"/>
            <a:ext cx="3735324" cy="838200"/>
          </a:xfrm>
          <a:prstGeom prst="rect">
            <a:avLst/>
          </a:prstGeom>
        </p:spPr>
        <p:txBody>
          <a:bodyPr lIns="0" tIns="0" rIns="0" bIns="0" rtlCol="0" anchor="t">
            <a:spAutoFit/>
          </a:bodyPr>
          <a:lstStyle/>
          <a:p>
            <a:pPr algn="l">
              <a:lnSpc>
                <a:spcPts val="3240"/>
              </a:lnSpc>
            </a:pPr>
            <a:r>
              <a:rPr lang="en-US" sz="2700" spc="-159">
                <a:solidFill>
                  <a:srgbClr val="185079"/>
                </a:solidFill>
                <a:latin typeface="Times New Roman"/>
                <a:ea typeface="Times New Roman"/>
                <a:cs typeface="Times New Roman"/>
                <a:sym typeface="Times New Roman"/>
              </a:rPr>
              <a:t>ENTIRE HOME/APT</a:t>
            </a:r>
          </a:p>
          <a:p>
            <a:pPr algn="l">
              <a:lnSpc>
                <a:spcPts val="3240"/>
              </a:lnSpc>
            </a:pPr>
            <a:r>
              <a:rPr lang="en-US" sz="2700" spc="-159">
                <a:solidFill>
                  <a:srgbClr val="185079"/>
                </a:solidFill>
                <a:latin typeface="Times New Roman"/>
                <a:ea typeface="Times New Roman"/>
                <a:cs typeface="Times New Roman"/>
                <a:sym typeface="Times New Roman"/>
              </a:rPr>
              <a:t>MEDIAN THB/ĐÊM</a:t>
            </a:r>
          </a:p>
        </p:txBody>
      </p:sp>
      <p:sp>
        <p:nvSpPr>
          <p:cNvPr id="15" name="TextBox 15"/>
          <p:cNvSpPr txBox="1"/>
          <p:nvPr/>
        </p:nvSpPr>
        <p:spPr>
          <a:xfrm>
            <a:off x="1115568" y="8681466"/>
            <a:ext cx="16422624" cy="374783"/>
          </a:xfrm>
          <a:prstGeom prst="rect">
            <a:avLst/>
          </a:prstGeom>
        </p:spPr>
        <p:txBody>
          <a:bodyPr lIns="0" tIns="0" rIns="0" bIns="0" rtlCol="0" anchor="t">
            <a:spAutoFit/>
          </a:bodyPr>
          <a:lstStyle/>
          <a:p>
            <a:pPr algn="l">
              <a:lnSpc>
                <a:spcPts val="3060"/>
              </a:lnSpc>
            </a:pPr>
            <a:r>
              <a:rPr lang="en-US" sz="2550" dirty="0">
                <a:solidFill>
                  <a:srgbClr val="185079"/>
                </a:solidFill>
                <a:latin typeface="Times New Roman Bold"/>
                <a:ea typeface="Times New Roman Bold"/>
                <a:cs typeface="Times New Roman Bold"/>
                <a:sym typeface="Times New Roman Bold"/>
              </a:rPr>
              <a:t>ANOVA </a:t>
            </a:r>
            <a:r>
              <a:rPr lang="en-US" sz="2550" dirty="0" err="1">
                <a:solidFill>
                  <a:srgbClr val="185079"/>
                </a:solidFill>
                <a:latin typeface="Times New Roman Bold"/>
                <a:ea typeface="Times New Roman Bold"/>
                <a:cs typeface="Times New Roman Bold"/>
                <a:sym typeface="Times New Roman Bold"/>
              </a:rPr>
              <a:t>thăm</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dò</a:t>
            </a:r>
            <a:r>
              <a:rPr lang="en-US" sz="2550" dirty="0">
                <a:solidFill>
                  <a:srgbClr val="185079"/>
                </a:solidFill>
                <a:latin typeface="Times New Roman Bold"/>
                <a:ea typeface="Times New Roman Bold"/>
                <a:cs typeface="Times New Roman Bold"/>
                <a:sym typeface="Times New Roman Bold"/>
              </a:rPr>
              <a:t>: F=5,9323; p=0,000485542. </a:t>
            </a:r>
            <a:r>
              <a:rPr lang="en-US" sz="2550" dirty="0" err="1">
                <a:solidFill>
                  <a:srgbClr val="185079"/>
                </a:solidFill>
                <a:latin typeface="Times New Roman Bold"/>
                <a:ea typeface="Times New Roman Bold"/>
                <a:cs typeface="Times New Roman Bold"/>
                <a:sym typeface="Times New Roman Bold"/>
              </a:rPr>
              <a:t>Không</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suy</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ra</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tác</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động</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nhân</a:t>
            </a:r>
            <a:r>
              <a:rPr lang="en-US" sz="2550" dirty="0">
                <a:solidFill>
                  <a:srgbClr val="185079"/>
                </a:solidFill>
                <a:latin typeface="Times New Roman Bold"/>
                <a:ea typeface="Times New Roman Bold"/>
                <a:cs typeface="Times New Roman Bold"/>
                <a:sym typeface="Times New Roman Bold"/>
              </a:rPr>
              <a:t> </a:t>
            </a:r>
            <a:r>
              <a:rPr lang="en-US" sz="2550" dirty="0" err="1">
                <a:solidFill>
                  <a:srgbClr val="185079"/>
                </a:solidFill>
                <a:latin typeface="Times New Roman Bold"/>
                <a:ea typeface="Times New Roman Bold"/>
                <a:cs typeface="Times New Roman Bold"/>
                <a:sym typeface="Times New Roman Bold"/>
              </a:rPr>
              <a:t>quả</a:t>
            </a:r>
            <a:r>
              <a:rPr lang="en-US" sz="2550" dirty="0">
                <a:solidFill>
                  <a:srgbClr val="185079"/>
                </a:solidFill>
                <a:latin typeface="Times New Roman Bold"/>
                <a:ea typeface="Times New Roman Bold"/>
                <a:cs typeface="Times New Roman Bold"/>
                <a:sym typeface="Times New Roman Bold"/>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3885AB"/>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RQ3 • P NHỎ, NHƯNG TƯƠNG QUAN TUYẾN TÍNH YẾU</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a:solidFill>
                  <a:srgbClr val="185079"/>
                </a:solidFill>
                <a:latin typeface="Times New Roman Bold"/>
                <a:ea typeface="Times New Roman Bold"/>
                <a:cs typeface="Times New Roman Bold"/>
                <a:sym typeface="Times New Roman Bold"/>
              </a:rPr>
              <a:t>07</a:t>
            </a:r>
          </a:p>
        </p:txBody>
      </p:sp>
      <p:grpSp>
        <p:nvGrpSpPr>
          <p:cNvPr id="9" name="Group 9"/>
          <p:cNvGrpSpPr/>
          <p:nvPr/>
        </p:nvGrpSpPr>
        <p:grpSpPr>
          <a:xfrm>
            <a:off x="1359132" y="2400300"/>
            <a:ext cx="9351816" cy="6858000"/>
            <a:chOff x="0" y="0"/>
            <a:chExt cx="12469089" cy="9144000"/>
          </a:xfrm>
        </p:grpSpPr>
        <p:sp>
          <p:nvSpPr>
            <p:cNvPr id="10" name="Freeform 10" descr="fig3_price_vs_size_scatter.png"/>
            <p:cNvSpPr/>
            <p:nvPr/>
          </p:nvSpPr>
          <p:spPr>
            <a:xfrm>
              <a:off x="0" y="0"/>
              <a:ext cx="12469114" cy="9144000"/>
            </a:xfrm>
            <a:custGeom>
              <a:avLst/>
              <a:gdLst/>
              <a:ahLst/>
              <a:cxnLst/>
              <a:rect l="l" t="t" r="r" b="b"/>
              <a:pathLst>
                <a:path w="12469114" h="9144000">
                  <a:moveTo>
                    <a:pt x="0" y="0"/>
                  </a:moveTo>
                  <a:lnTo>
                    <a:pt x="12469114" y="0"/>
                  </a:lnTo>
                  <a:lnTo>
                    <a:pt x="12469114" y="9144000"/>
                  </a:lnTo>
                  <a:lnTo>
                    <a:pt x="0" y="9144000"/>
                  </a:lnTo>
                  <a:lnTo>
                    <a:pt x="0" y="0"/>
                  </a:lnTo>
                  <a:close/>
                </a:path>
              </a:pathLst>
            </a:custGeom>
            <a:blipFill>
              <a:blip r:embed="rId3"/>
              <a:stretch>
                <a:fillRect/>
              </a:stretch>
            </a:blipFill>
          </p:spPr>
        </p:sp>
      </p:grpSp>
      <p:sp>
        <p:nvSpPr>
          <p:cNvPr id="11" name="TextBox 11"/>
          <p:cNvSpPr txBox="1"/>
          <p:nvPr/>
        </p:nvSpPr>
        <p:spPr>
          <a:xfrm>
            <a:off x="11745468" y="2948178"/>
            <a:ext cx="2226564" cy="2162175"/>
          </a:xfrm>
          <a:prstGeom prst="rect">
            <a:avLst/>
          </a:prstGeom>
        </p:spPr>
        <p:txBody>
          <a:bodyPr lIns="0" tIns="0" rIns="0" bIns="0" rtlCol="0" anchor="t">
            <a:spAutoFit/>
          </a:bodyPr>
          <a:lstStyle/>
          <a:p>
            <a:pPr algn="l">
              <a:lnSpc>
                <a:spcPts val="3419"/>
              </a:lnSpc>
            </a:pPr>
            <a:r>
              <a:rPr lang="en-US" sz="2850" b="1" spc="-168" dirty="0">
                <a:solidFill>
                  <a:srgbClr val="185079"/>
                </a:solidFill>
                <a:latin typeface="Times New Roman"/>
                <a:ea typeface="Times New Roman"/>
                <a:cs typeface="Times New Roman"/>
                <a:sym typeface="Times New Roman"/>
              </a:rPr>
              <a:t>BIẾN</a:t>
            </a:r>
          </a:p>
          <a:p>
            <a:pPr algn="l">
              <a:lnSpc>
                <a:spcPts val="3419"/>
              </a:lnSpc>
            </a:pPr>
            <a:r>
              <a:rPr lang="en-US" sz="2850" spc="-168" dirty="0">
                <a:solidFill>
                  <a:srgbClr val="185079"/>
                </a:solidFill>
                <a:latin typeface="Times New Roman"/>
                <a:ea typeface="Times New Roman"/>
                <a:cs typeface="Times New Roman"/>
                <a:sym typeface="Times New Roman"/>
              </a:rPr>
              <a:t>SỐ KHÁCH</a:t>
            </a:r>
          </a:p>
          <a:p>
            <a:pPr algn="l">
              <a:lnSpc>
                <a:spcPts val="3419"/>
              </a:lnSpc>
            </a:pPr>
            <a:r>
              <a:rPr lang="en-US" sz="2850" spc="-168" dirty="0">
                <a:solidFill>
                  <a:srgbClr val="185079"/>
                </a:solidFill>
                <a:latin typeface="Times New Roman"/>
                <a:ea typeface="Times New Roman"/>
                <a:cs typeface="Times New Roman"/>
                <a:sym typeface="Times New Roman"/>
              </a:rPr>
              <a:t>PHÒNG NGỦ</a:t>
            </a:r>
          </a:p>
          <a:p>
            <a:pPr algn="l">
              <a:lnSpc>
                <a:spcPts val="3419"/>
              </a:lnSpc>
            </a:pPr>
            <a:r>
              <a:rPr lang="en-US" sz="2850" spc="-168" dirty="0">
                <a:solidFill>
                  <a:srgbClr val="185079"/>
                </a:solidFill>
                <a:latin typeface="Times New Roman"/>
                <a:ea typeface="Times New Roman"/>
                <a:cs typeface="Times New Roman"/>
                <a:sym typeface="Times New Roman"/>
              </a:rPr>
              <a:t>PHÒNG TẮM</a:t>
            </a:r>
          </a:p>
          <a:p>
            <a:pPr algn="l">
              <a:lnSpc>
                <a:spcPts val="3419"/>
              </a:lnSpc>
            </a:pPr>
            <a:r>
              <a:rPr lang="en-US" sz="2850" spc="-168" dirty="0">
                <a:solidFill>
                  <a:srgbClr val="185079"/>
                </a:solidFill>
                <a:latin typeface="Times New Roman"/>
                <a:ea typeface="Times New Roman"/>
                <a:cs typeface="Times New Roman"/>
                <a:sym typeface="Times New Roman"/>
              </a:rPr>
              <a:t>SỐ GIƯỜNG</a:t>
            </a:r>
          </a:p>
        </p:txBody>
      </p:sp>
      <p:sp>
        <p:nvSpPr>
          <p:cNvPr id="12" name="TextBox 12"/>
          <p:cNvSpPr txBox="1"/>
          <p:nvPr/>
        </p:nvSpPr>
        <p:spPr>
          <a:xfrm>
            <a:off x="14145768" y="2948178"/>
            <a:ext cx="1472184" cy="2162175"/>
          </a:xfrm>
          <a:prstGeom prst="rect">
            <a:avLst/>
          </a:prstGeom>
        </p:spPr>
        <p:txBody>
          <a:bodyPr lIns="0" tIns="0" rIns="0" bIns="0" rtlCol="0" anchor="t">
            <a:spAutoFit/>
          </a:bodyPr>
          <a:lstStyle/>
          <a:p>
            <a:pPr algn="l">
              <a:lnSpc>
                <a:spcPts val="3419"/>
              </a:lnSpc>
            </a:pPr>
            <a:r>
              <a:rPr lang="en-US" sz="2850" b="1" spc="-168" dirty="0">
                <a:solidFill>
                  <a:srgbClr val="185079"/>
                </a:solidFill>
                <a:latin typeface="Times New Roman"/>
                <a:ea typeface="Times New Roman"/>
                <a:cs typeface="Times New Roman"/>
                <a:sym typeface="Times New Roman"/>
              </a:rPr>
              <a:t>R</a:t>
            </a:r>
          </a:p>
          <a:p>
            <a:pPr algn="l">
              <a:lnSpc>
                <a:spcPts val="3419"/>
              </a:lnSpc>
            </a:pPr>
            <a:r>
              <a:rPr lang="en-US" sz="2850" spc="-168" dirty="0">
                <a:solidFill>
                  <a:srgbClr val="185079"/>
                </a:solidFill>
                <a:latin typeface="Times New Roman"/>
                <a:ea typeface="Times New Roman"/>
                <a:cs typeface="Times New Roman"/>
                <a:sym typeface="Times New Roman"/>
              </a:rPr>
              <a:t>0,1067</a:t>
            </a:r>
          </a:p>
          <a:p>
            <a:pPr algn="l">
              <a:lnSpc>
                <a:spcPts val="3419"/>
              </a:lnSpc>
            </a:pPr>
            <a:r>
              <a:rPr lang="en-US" sz="2850" spc="-168" dirty="0">
                <a:solidFill>
                  <a:srgbClr val="185079"/>
                </a:solidFill>
                <a:latin typeface="Times New Roman"/>
                <a:ea typeface="Times New Roman"/>
                <a:cs typeface="Times New Roman"/>
                <a:sym typeface="Times New Roman"/>
              </a:rPr>
              <a:t>0,0881</a:t>
            </a:r>
          </a:p>
          <a:p>
            <a:pPr algn="l">
              <a:lnSpc>
                <a:spcPts val="3419"/>
              </a:lnSpc>
            </a:pPr>
            <a:r>
              <a:rPr lang="en-US" sz="2850" spc="-168" dirty="0">
                <a:solidFill>
                  <a:srgbClr val="185079"/>
                </a:solidFill>
                <a:latin typeface="Times New Roman"/>
                <a:ea typeface="Times New Roman"/>
                <a:cs typeface="Times New Roman"/>
                <a:sym typeface="Times New Roman"/>
              </a:rPr>
              <a:t>0,0841</a:t>
            </a:r>
          </a:p>
          <a:p>
            <a:pPr algn="l">
              <a:lnSpc>
                <a:spcPts val="3419"/>
              </a:lnSpc>
            </a:pPr>
            <a:r>
              <a:rPr lang="en-US" sz="2850" spc="-168" dirty="0">
                <a:solidFill>
                  <a:srgbClr val="185079"/>
                </a:solidFill>
                <a:latin typeface="Times New Roman"/>
                <a:ea typeface="Times New Roman"/>
                <a:cs typeface="Times New Roman"/>
                <a:sym typeface="Times New Roman"/>
              </a:rPr>
              <a:t>0,0688</a:t>
            </a:r>
          </a:p>
        </p:txBody>
      </p:sp>
      <p:sp>
        <p:nvSpPr>
          <p:cNvPr id="13" name="TextBox 13"/>
          <p:cNvSpPr txBox="1"/>
          <p:nvPr/>
        </p:nvSpPr>
        <p:spPr>
          <a:xfrm>
            <a:off x="15860268" y="2948178"/>
            <a:ext cx="1581912" cy="2162175"/>
          </a:xfrm>
          <a:prstGeom prst="rect">
            <a:avLst/>
          </a:prstGeom>
        </p:spPr>
        <p:txBody>
          <a:bodyPr lIns="0" tIns="0" rIns="0" bIns="0" rtlCol="0" anchor="t">
            <a:spAutoFit/>
          </a:bodyPr>
          <a:lstStyle/>
          <a:p>
            <a:pPr algn="l">
              <a:lnSpc>
                <a:spcPts val="3419"/>
              </a:lnSpc>
            </a:pPr>
            <a:r>
              <a:rPr lang="en-US" sz="2850" b="1" spc="-168" dirty="0">
                <a:solidFill>
                  <a:srgbClr val="185079"/>
                </a:solidFill>
                <a:latin typeface="Times New Roman"/>
                <a:ea typeface="Times New Roman"/>
                <a:cs typeface="Times New Roman"/>
                <a:sym typeface="Times New Roman"/>
              </a:rPr>
              <a:t>N</a:t>
            </a:r>
          </a:p>
          <a:p>
            <a:pPr algn="l">
              <a:lnSpc>
                <a:spcPts val="3419"/>
              </a:lnSpc>
            </a:pPr>
            <a:r>
              <a:rPr lang="en-US" sz="2850" spc="-168" dirty="0">
                <a:solidFill>
                  <a:srgbClr val="185079"/>
                </a:solidFill>
                <a:latin typeface="Times New Roman"/>
                <a:ea typeface="Times New Roman"/>
                <a:cs typeface="Times New Roman"/>
                <a:sym typeface="Times New Roman"/>
              </a:rPr>
              <a:t>28.987</a:t>
            </a:r>
          </a:p>
          <a:p>
            <a:pPr algn="l">
              <a:lnSpc>
                <a:spcPts val="3419"/>
              </a:lnSpc>
            </a:pPr>
            <a:r>
              <a:rPr lang="en-US" sz="2850" spc="-168" dirty="0">
                <a:solidFill>
                  <a:srgbClr val="185079"/>
                </a:solidFill>
                <a:latin typeface="Times New Roman"/>
                <a:ea typeface="Times New Roman"/>
                <a:cs typeface="Times New Roman"/>
                <a:sym typeface="Times New Roman"/>
              </a:rPr>
              <a:t>25.428</a:t>
            </a:r>
          </a:p>
          <a:p>
            <a:pPr algn="l">
              <a:lnSpc>
                <a:spcPts val="3419"/>
              </a:lnSpc>
            </a:pPr>
            <a:r>
              <a:rPr lang="en-US" sz="2850" spc="-168" dirty="0">
                <a:solidFill>
                  <a:srgbClr val="185079"/>
                </a:solidFill>
                <a:latin typeface="Times New Roman"/>
                <a:ea typeface="Times New Roman"/>
                <a:cs typeface="Times New Roman"/>
                <a:sym typeface="Times New Roman"/>
              </a:rPr>
              <a:t>26.286</a:t>
            </a:r>
          </a:p>
          <a:p>
            <a:pPr algn="l">
              <a:lnSpc>
                <a:spcPts val="3419"/>
              </a:lnSpc>
            </a:pPr>
            <a:r>
              <a:rPr lang="en-US" sz="2850" spc="-168" dirty="0">
                <a:solidFill>
                  <a:srgbClr val="185079"/>
                </a:solidFill>
                <a:latin typeface="Times New Roman"/>
                <a:ea typeface="Times New Roman"/>
                <a:cs typeface="Times New Roman"/>
                <a:sym typeface="Times New Roman"/>
              </a:rPr>
              <a:t>27.717</a:t>
            </a:r>
          </a:p>
        </p:txBody>
      </p:sp>
      <p:sp>
        <p:nvSpPr>
          <p:cNvPr id="14" name="TextBox 14"/>
          <p:cNvSpPr txBox="1"/>
          <p:nvPr/>
        </p:nvSpPr>
        <p:spPr>
          <a:xfrm>
            <a:off x="11786616" y="6110478"/>
            <a:ext cx="5655564" cy="733425"/>
          </a:xfrm>
          <a:prstGeom prst="rect">
            <a:avLst/>
          </a:prstGeom>
        </p:spPr>
        <p:txBody>
          <a:bodyPr lIns="0" tIns="0" rIns="0" bIns="0" rtlCol="0" anchor="t">
            <a:spAutoFit/>
          </a:bodyPr>
          <a:lstStyle/>
          <a:p>
            <a:pPr algn="l">
              <a:lnSpc>
                <a:spcPts val="2879"/>
              </a:lnSpc>
            </a:pPr>
            <a:r>
              <a:rPr lang="en-US" sz="2400" dirty="0">
                <a:solidFill>
                  <a:srgbClr val="185079"/>
                </a:solidFill>
                <a:latin typeface="Times New Roman"/>
                <a:ea typeface="Times New Roman"/>
                <a:cs typeface="Times New Roman"/>
                <a:sym typeface="Times New Roman"/>
              </a:rPr>
              <a:t>p </a:t>
            </a:r>
            <a:r>
              <a:rPr lang="en-US" sz="2400" dirty="0" err="1">
                <a:solidFill>
                  <a:srgbClr val="185079"/>
                </a:solidFill>
                <a:latin typeface="Times New Roman"/>
                <a:ea typeface="Times New Roman"/>
                <a:cs typeface="Times New Roman"/>
                <a:sym typeface="Times New Roman"/>
              </a:rPr>
              <a:t>lần</a:t>
            </a:r>
            <a:r>
              <a:rPr lang="en-US" sz="2400" dirty="0">
                <a:solidFill>
                  <a:srgbClr val="185079"/>
                </a:solidFill>
                <a:latin typeface="Times New Roman"/>
                <a:ea typeface="Times New Roman"/>
                <a:cs typeface="Times New Roman"/>
                <a:sym typeface="Times New Roman"/>
              </a:rPr>
              <a:t> </a:t>
            </a:r>
            <a:r>
              <a:rPr lang="en-US" sz="2400" dirty="0" err="1">
                <a:solidFill>
                  <a:srgbClr val="185079"/>
                </a:solidFill>
                <a:latin typeface="Times New Roman"/>
                <a:ea typeface="Times New Roman"/>
                <a:cs typeface="Times New Roman"/>
                <a:sym typeface="Times New Roman"/>
              </a:rPr>
              <a:t>lượt</a:t>
            </a:r>
            <a:r>
              <a:rPr lang="en-US" sz="2400" dirty="0">
                <a:solidFill>
                  <a:srgbClr val="185079"/>
                </a:solidFill>
                <a:latin typeface="Times New Roman"/>
                <a:ea typeface="Times New Roman"/>
                <a:cs typeface="Times New Roman"/>
                <a:sym typeface="Times New Roman"/>
              </a:rPr>
              <a:t>: 4,268×10⁻⁷⁴; 6,036×10⁻⁴⁵; 1,977×10⁻⁴²; 1,902×10⁻³⁰.</a:t>
            </a:r>
          </a:p>
        </p:txBody>
      </p:sp>
      <p:sp>
        <p:nvSpPr>
          <p:cNvPr id="15" name="TextBox 15"/>
          <p:cNvSpPr txBox="1"/>
          <p:nvPr/>
        </p:nvSpPr>
        <p:spPr>
          <a:xfrm>
            <a:off x="11603736" y="7387781"/>
            <a:ext cx="5655564" cy="1495425"/>
          </a:xfrm>
          <a:prstGeom prst="rect">
            <a:avLst/>
          </a:prstGeom>
        </p:spPr>
        <p:txBody>
          <a:bodyPr lIns="0" tIns="0" rIns="0" bIns="0" rtlCol="0" anchor="t">
            <a:spAutoFit/>
          </a:bodyPr>
          <a:lstStyle/>
          <a:p>
            <a:pPr algn="l">
              <a:lnSpc>
                <a:spcPts val="2983"/>
              </a:lnSpc>
            </a:pPr>
            <a:r>
              <a:rPr lang="en-US" sz="2486" spc="-146" dirty="0">
                <a:solidFill>
                  <a:srgbClr val="185079"/>
                </a:solidFill>
                <a:latin typeface="Times New Roman"/>
                <a:ea typeface="Times New Roman"/>
                <a:cs typeface="Times New Roman"/>
                <a:sym typeface="Times New Roman"/>
              </a:rPr>
              <a:t>THÔNG ĐIỆP: CÁC MỐI LIÊN HỆ TUYẾN TÍNH ĐỀU DƯƠNG NHƯNG YẾU; CHƯA THỂ DÙNG RIÊNG QUY MÔ ĐỂ GIẢI THÍCH TỐT GIÁ THUÊ.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3885AB"/>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RQ4 • KHÁC BIỆT KHU VỰC TRONG CÙNG LOẠI PHÒNG</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08</a:t>
            </a:r>
          </a:p>
        </p:txBody>
      </p:sp>
      <p:grpSp>
        <p:nvGrpSpPr>
          <p:cNvPr id="9" name="Group 9"/>
          <p:cNvGrpSpPr/>
          <p:nvPr/>
        </p:nvGrpSpPr>
        <p:grpSpPr>
          <a:xfrm>
            <a:off x="918476" y="2322957"/>
            <a:ext cx="9707880" cy="6720840"/>
            <a:chOff x="0" y="0"/>
            <a:chExt cx="12943840" cy="8961120"/>
          </a:xfrm>
        </p:grpSpPr>
        <p:sp>
          <p:nvSpPr>
            <p:cNvPr id="10" name="Freeform 10" descr="fig4_price_top_neighbourhoods_bar.png"/>
            <p:cNvSpPr/>
            <p:nvPr/>
          </p:nvSpPr>
          <p:spPr>
            <a:xfrm>
              <a:off x="0" y="0"/>
              <a:ext cx="12943840" cy="8961120"/>
            </a:xfrm>
            <a:custGeom>
              <a:avLst/>
              <a:gdLst/>
              <a:ahLst/>
              <a:cxnLst/>
              <a:rect l="l" t="t" r="r" b="b"/>
              <a:pathLst>
                <a:path w="12943840" h="8961120">
                  <a:moveTo>
                    <a:pt x="0" y="0"/>
                  </a:moveTo>
                  <a:lnTo>
                    <a:pt x="12943840" y="0"/>
                  </a:lnTo>
                  <a:lnTo>
                    <a:pt x="12943840" y="8961120"/>
                  </a:lnTo>
                  <a:lnTo>
                    <a:pt x="0" y="8961120"/>
                  </a:lnTo>
                  <a:lnTo>
                    <a:pt x="0" y="0"/>
                  </a:lnTo>
                  <a:close/>
                </a:path>
              </a:pathLst>
            </a:custGeom>
            <a:blipFill>
              <a:blip r:embed="rId3"/>
              <a:stretch>
                <a:fillRect/>
              </a:stretch>
            </a:blipFill>
          </p:spPr>
        </p:sp>
      </p:grpSp>
      <p:sp>
        <p:nvSpPr>
          <p:cNvPr id="11" name="TextBox 11"/>
          <p:cNvSpPr txBox="1"/>
          <p:nvPr/>
        </p:nvSpPr>
        <p:spPr>
          <a:xfrm>
            <a:off x="10811260" y="2922613"/>
            <a:ext cx="1860142" cy="477206"/>
          </a:xfrm>
          <a:prstGeom prst="rect">
            <a:avLst/>
          </a:prstGeom>
        </p:spPr>
        <p:txBody>
          <a:bodyPr lIns="0" tIns="0" rIns="0" bIns="0" rtlCol="0" anchor="t">
            <a:spAutoFit/>
          </a:bodyPr>
          <a:lstStyle/>
          <a:p>
            <a:pPr algn="l">
              <a:lnSpc>
                <a:spcPts val="3655"/>
              </a:lnSpc>
            </a:pPr>
            <a:r>
              <a:rPr lang="en-US" sz="3046" b="1" spc="-179">
                <a:solidFill>
                  <a:srgbClr val="185079"/>
                </a:solidFill>
                <a:latin typeface="Times New Roman Bold"/>
                <a:ea typeface="Times New Roman Bold"/>
                <a:cs typeface="Times New Roman Bold"/>
                <a:sym typeface="Times New Roman Bold"/>
              </a:rPr>
              <a:t>KHU VỰC</a:t>
            </a:r>
          </a:p>
        </p:txBody>
      </p:sp>
      <p:sp>
        <p:nvSpPr>
          <p:cNvPr id="12" name="TextBox 12"/>
          <p:cNvSpPr txBox="1"/>
          <p:nvPr/>
        </p:nvSpPr>
        <p:spPr>
          <a:xfrm>
            <a:off x="10811260" y="3705441"/>
            <a:ext cx="3468317" cy="3676650"/>
          </a:xfrm>
          <a:prstGeom prst="rect">
            <a:avLst/>
          </a:prstGeom>
        </p:spPr>
        <p:txBody>
          <a:bodyPr lIns="0" tIns="0" rIns="0" bIns="0" rtlCol="0" anchor="t">
            <a:spAutoFit/>
          </a:bodyPr>
          <a:lstStyle/>
          <a:p>
            <a:pPr algn="l">
              <a:lnSpc>
                <a:spcPts val="3655"/>
              </a:lnSpc>
            </a:pPr>
            <a:r>
              <a:rPr lang="en-US" sz="3046" spc="-179">
                <a:solidFill>
                  <a:srgbClr val="185079"/>
                </a:solidFill>
                <a:latin typeface="Times New Roman"/>
                <a:ea typeface="Times New Roman"/>
                <a:cs typeface="Times New Roman"/>
                <a:sym typeface="Times New Roman"/>
              </a:rPr>
              <a:t>BANG PHLAT</a:t>
            </a:r>
          </a:p>
          <a:p>
            <a:pPr algn="l">
              <a:lnSpc>
                <a:spcPts val="3655"/>
              </a:lnSpc>
            </a:pPr>
            <a:endParaRPr lang="en-US" sz="3046" spc="-179">
              <a:solidFill>
                <a:srgbClr val="185079"/>
              </a:solidFill>
              <a:latin typeface="Times New Roman"/>
              <a:ea typeface="Times New Roman"/>
              <a:cs typeface="Times New Roman"/>
              <a:sym typeface="Times New Roman"/>
            </a:endParaRPr>
          </a:p>
          <a:p>
            <a:pPr algn="l">
              <a:lnSpc>
                <a:spcPts val="3655"/>
              </a:lnSpc>
            </a:pPr>
            <a:r>
              <a:rPr lang="en-US" sz="3046" spc="-179">
                <a:solidFill>
                  <a:srgbClr val="185079"/>
                </a:solidFill>
                <a:latin typeface="Times New Roman"/>
                <a:ea typeface="Times New Roman"/>
                <a:cs typeface="Times New Roman"/>
                <a:sym typeface="Times New Roman"/>
              </a:rPr>
              <a:t>BANG NA</a:t>
            </a:r>
          </a:p>
          <a:p>
            <a:pPr algn="l">
              <a:lnSpc>
                <a:spcPts val="3655"/>
              </a:lnSpc>
            </a:pPr>
            <a:endParaRPr lang="en-US" sz="3046" spc="-179">
              <a:solidFill>
                <a:srgbClr val="185079"/>
              </a:solidFill>
              <a:latin typeface="Times New Roman"/>
              <a:ea typeface="Times New Roman"/>
              <a:cs typeface="Times New Roman"/>
              <a:sym typeface="Times New Roman"/>
            </a:endParaRPr>
          </a:p>
          <a:p>
            <a:pPr algn="l">
              <a:lnSpc>
                <a:spcPts val="3655"/>
              </a:lnSpc>
            </a:pPr>
            <a:r>
              <a:rPr lang="en-US" sz="3046" spc="-179">
                <a:solidFill>
                  <a:srgbClr val="185079"/>
                </a:solidFill>
                <a:latin typeface="Times New Roman"/>
                <a:ea typeface="Times New Roman"/>
                <a:cs typeface="Times New Roman"/>
                <a:sym typeface="Times New Roman"/>
              </a:rPr>
              <a:t>PHRA NAKHON</a:t>
            </a:r>
          </a:p>
          <a:p>
            <a:pPr algn="l">
              <a:lnSpc>
                <a:spcPts val="3655"/>
              </a:lnSpc>
            </a:pPr>
            <a:endParaRPr lang="en-US" sz="3046" spc="-179">
              <a:solidFill>
                <a:srgbClr val="185079"/>
              </a:solidFill>
              <a:latin typeface="Times New Roman"/>
              <a:ea typeface="Times New Roman"/>
              <a:cs typeface="Times New Roman"/>
              <a:sym typeface="Times New Roman"/>
            </a:endParaRPr>
          </a:p>
          <a:p>
            <a:pPr algn="l">
              <a:lnSpc>
                <a:spcPts val="3655"/>
              </a:lnSpc>
            </a:pPr>
            <a:r>
              <a:rPr lang="en-US" sz="3046" spc="-179">
                <a:solidFill>
                  <a:srgbClr val="185079"/>
                </a:solidFill>
                <a:latin typeface="Times New Roman"/>
                <a:ea typeface="Times New Roman"/>
                <a:cs typeface="Times New Roman"/>
                <a:sym typeface="Times New Roman"/>
              </a:rPr>
              <a:t>SAMPHATHAWONG</a:t>
            </a:r>
          </a:p>
          <a:p>
            <a:pPr algn="l">
              <a:lnSpc>
                <a:spcPts val="3655"/>
              </a:lnSpc>
            </a:pPr>
            <a:endParaRPr lang="en-US" sz="3046" spc="-179">
              <a:solidFill>
                <a:srgbClr val="185079"/>
              </a:solidFill>
              <a:latin typeface="Times New Roman"/>
              <a:ea typeface="Times New Roman"/>
              <a:cs typeface="Times New Roman"/>
              <a:sym typeface="Times New Roman"/>
            </a:endParaRPr>
          </a:p>
        </p:txBody>
      </p:sp>
      <p:sp>
        <p:nvSpPr>
          <p:cNvPr id="13" name="TextBox 13"/>
          <p:cNvSpPr txBox="1"/>
          <p:nvPr/>
        </p:nvSpPr>
        <p:spPr>
          <a:xfrm>
            <a:off x="14930821" y="2704196"/>
            <a:ext cx="2145599" cy="914040"/>
          </a:xfrm>
          <a:prstGeom prst="rect">
            <a:avLst/>
          </a:prstGeom>
        </p:spPr>
        <p:txBody>
          <a:bodyPr lIns="0" tIns="0" rIns="0" bIns="0" rtlCol="0" anchor="t">
            <a:spAutoFit/>
          </a:bodyPr>
          <a:lstStyle/>
          <a:p>
            <a:pPr algn="l">
              <a:lnSpc>
                <a:spcPts val="3570"/>
              </a:lnSpc>
            </a:pPr>
            <a:r>
              <a:rPr lang="en-US" sz="2975" b="1" spc="-175">
                <a:solidFill>
                  <a:srgbClr val="185079"/>
                </a:solidFill>
                <a:latin typeface="Times New Roman Bold"/>
                <a:ea typeface="Times New Roman Bold"/>
                <a:cs typeface="Times New Roman Bold"/>
                <a:sym typeface="Times New Roman Bold"/>
              </a:rPr>
              <a:t>TRUNG VỊ </a:t>
            </a:r>
          </a:p>
          <a:p>
            <a:pPr algn="l">
              <a:lnSpc>
                <a:spcPts val="3570"/>
              </a:lnSpc>
            </a:pPr>
            <a:r>
              <a:rPr lang="en-US" sz="2975" b="1" spc="-175">
                <a:solidFill>
                  <a:srgbClr val="185079"/>
                </a:solidFill>
                <a:latin typeface="Times New Roman Bold"/>
                <a:ea typeface="Times New Roman Bold"/>
                <a:cs typeface="Times New Roman Bold"/>
                <a:sym typeface="Times New Roman Bold"/>
              </a:rPr>
              <a:t>(THB/ĐÊM)</a:t>
            </a:r>
          </a:p>
        </p:txBody>
      </p:sp>
      <p:sp>
        <p:nvSpPr>
          <p:cNvPr id="14" name="TextBox 14"/>
          <p:cNvSpPr txBox="1"/>
          <p:nvPr/>
        </p:nvSpPr>
        <p:spPr>
          <a:xfrm>
            <a:off x="15199810" y="3654583"/>
            <a:ext cx="1607619" cy="3676650"/>
          </a:xfrm>
          <a:prstGeom prst="rect">
            <a:avLst/>
          </a:prstGeom>
        </p:spPr>
        <p:txBody>
          <a:bodyPr lIns="0" tIns="0" rIns="0" bIns="0" rtlCol="0" anchor="t">
            <a:spAutoFit/>
          </a:bodyPr>
          <a:lstStyle/>
          <a:p>
            <a:pPr algn="l">
              <a:lnSpc>
                <a:spcPts val="3655"/>
              </a:lnSpc>
            </a:pPr>
            <a:r>
              <a:rPr lang="en-US" sz="3046" spc="-179" dirty="0">
                <a:solidFill>
                  <a:srgbClr val="185079"/>
                </a:solidFill>
                <a:latin typeface="Times New Roman"/>
                <a:ea typeface="Times New Roman"/>
                <a:cs typeface="Times New Roman"/>
                <a:sym typeface="Times New Roman"/>
              </a:rPr>
              <a:t>678,03</a:t>
            </a:r>
          </a:p>
          <a:p>
            <a:pPr algn="l">
              <a:lnSpc>
                <a:spcPts val="3655"/>
              </a:lnSpc>
            </a:pPr>
            <a:endParaRPr lang="en-US" sz="3046" spc="-179" dirty="0">
              <a:solidFill>
                <a:srgbClr val="185079"/>
              </a:solidFill>
              <a:latin typeface="Times New Roman"/>
              <a:ea typeface="Times New Roman"/>
              <a:cs typeface="Times New Roman"/>
              <a:sym typeface="Times New Roman"/>
            </a:endParaRPr>
          </a:p>
          <a:p>
            <a:pPr algn="l">
              <a:lnSpc>
                <a:spcPts val="3655"/>
              </a:lnSpc>
            </a:pPr>
            <a:r>
              <a:rPr lang="en-US" sz="3046" spc="-179" dirty="0">
                <a:solidFill>
                  <a:srgbClr val="185079"/>
                </a:solidFill>
                <a:latin typeface="Times New Roman"/>
                <a:ea typeface="Times New Roman"/>
                <a:cs typeface="Times New Roman"/>
                <a:sym typeface="Times New Roman"/>
              </a:rPr>
              <a:t>969,48</a:t>
            </a:r>
          </a:p>
          <a:p>
            <a:pPr algn="l">
              <a:lnSpc>
                <a:spcPts val="3655"/>
              </a:lnSpc>
            </a:pPr>
            <a:endParaRPr lang="en-US" sz="3046" spc="-179" dirty="0">
              <a:solidFill>
                <a:srgbClr val="185079"/>
              </a:solidFill>
              <a:latin typeface="Times New Roman"/>
              <a:ea typeface="Times New Roman"/>
              <a:cs typeface="Times New Roman"/>
              <a:sym typeface="Times New Roman"/>
            </a:endParaRPr>
          </a:p>
          <a:p>
            <a:pPr algn="l">
              <a:lnSpc>
                <a:spcPts val="3655"/>
              </a:lnSpc>
            </a:pPr>
            <a:r>
              <a:rPr lang="en-US" sz="3046" spc="-179" dirty="0">
                <a:solidFill>
                  <a:srgbClr val="185079"/>
                </a:solidFill>
                <a:latin typeface="Times New Roman"/>
                <a:ea typeface="Times New Roman"/>
                <a:cs typeface="Times New Roman"/>
                <a:sym typeface="Times New Roman"/>
              </a:rPr>
              <a:t>2.918,50</a:t>
            </a:r>
          </a:p>
          <a:p>
            <a:pPr algn="l">
              <a:lnSpc>
                <a:spcPts val="3655"/>
              </a:lnSpc>
            </a:pPr>
            <a:endParaRPr lang="en-US" sz="3046" spc="-179" dirty="0">
              <a:solidFill>
                <a:srgbClr val="185079"/>
              </a:solidFill>
              <a:latin typeface="Times New Roman"/>
              <a:ea typeface="Times New Roman"/>
              <a:cs typeface="Times New Roman"/>
              <a:sym typeface="Times New Roman"/>
            </a:endParaRPr>
          </a:p>
          <a:p>
            <a:pPr algn="l">
              <a:lnSpc>
                <a:spcPts val="3655"/>
              </a:lnSpc>
            </a:pPr>
            <a:r>
              <a:rPr lang="en-US" sz="3046" spc="-179" dirty="0">
                <a:solidFill>
                  <a:srgbClr val="185079"/>
                </a:solidFill>
                <a:latin typeface="Times New Roman"/>
                <a:ea typeface="Times New Roman"/>
                <a:cs typeface="Times New Roman"/>
                <a:sym typeface="Times New Roman"/>
              </a:rPr>
              <a:t>3.115,50</a:t>
            </a:r>
          </a:p>
          <a:p>
            <a:pPr algn="l">
              <a:lnSpc>
                <a:spcPts val="3655"/>
              </a:lnSpc>
            </a:pPr>
            <a:endParaRPr lang="en-US" sz="3046" spc="-179" dirty="0">
              <a:solidFill>
                <a:srgbClr val="185079"/>
              </a:solidFill>
              <a:latin typeface="Times New Roman"/>
              <a:ea typeface="Times New Roman"/>
              <a:cs typeface="Times New Roman"/>
              <a:sym typeface="Times New Roman"/>
            </a:endParaRPr>
          </a:p>
        </p:txBody>
      </p:sp>
      <p:sp>
        <p:nvSpPr>
          <p:cNvPr id="15" name="TextBox 15"/>
          <p:cNvSpPr txBox="1"/>
          <p:nvPr/>
        </p:nvSpPr>
        <p:spPr>
          <a:xfrm>
            <a:off x="10937925" y="7636208"/>
            <a:ext cx="7077669" cy="1495425"/>
          </a:xfrm>
          <a:prstGeom prst="rect">
            <a:avLst/>
          </a:prstGeom>
        </p:spPr>
        <p:txBody>
          <a:bodyPr lIns="0" tIns="0" rIns="0" bIns="0" rtlCol="0" anchor="t">
            <a:spAutoFit/>
          </a:bodyPr>
          <a:lstStyle/>
          <a:p>
            <a:pPr algn="l">
              <a:lnSpc>
                <a:spcPts val="2983"/>
              </a:lnSpc>
            </a:pPr>
            <a:r>
              <a:rPr lang="en-US" sz="2486" spc="-146">
                <a:solidFill>
                  <a:srgbClr val="185079"/>
                </a:solidFill>
                <a:latin typeface="Times New Roman"/>
                <a:ea typeface="Times New Roman"/>
                <a:cs typeface="Times New Roman"/>
                <a:sym typeface="Times New Roman"/>
              </a:rPr>
              <a:t>THÔNG ĐIỆP: GIÁ NIÊM YẾT CÓ SỰ KHÁC BIỆT LỚN GIỮA CÁC KHU VỰC NGAY TRONG CÙNG LOẠI PHÒNG. ĐÂY LÀ CHÊNH LỆCH MÔ TẢ, CHƯA CHỨNG MINH VỊ TRÍ LÀ NGUYÊN NHÂN.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HỒI QUY: CHƯA CÓ BIẾN QUA CHÍNH SÁCH LỰA CHỌN</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09</a:t>
            </a:r>
          </a:p>
        </p:txBody>
      </p:sp>
      <p:grpSp>
        <p:nvGrpSpPr>
          <p:cNvPr id="9" name="Group 9"/>
          <p:cNvGrpSpPr/>
          <p:nvPr/>
        </p:nvGrpSpPr>
        <p:grpSpPr>
          <a:xfrm>
            <a:off x="822960" y="2674620"/>
            <a:ext cx="5417820" cy="2468880"/>
            <a:chOff x="0" y="0"/>
            <a:chExt cx="7223760" cy="3291840"/>
          </a:xfrm>
        </p:grpSpPr>
        <p:sp>
          <p:nvSpPr>
            <p:cNvPr id="10" name="Freeform 10"/>
            <p:cNvSpPr/>
            <p:nvPr/>
          </p:nvSpPr>
          <p:spPr>
            <a:xfrm>
              <a:off x="0" y="0"/>
              <a:ext cx="7223760" cy="3291840"/>
            </a:xfrm>
            <a:custGeom>
              <a:avLst/>
              <a:gdLst/>
              <a:ahLst/>
              <a:cxnLst/>
              <a:rect l="l" t="t" r="r" b="b"/>
              <a:pathLst>
                <a:path w="7223760" h="3291840">
                  <a:moveTo>
                    <a:pt x="0" y="0"/>
                  </a:moveTo>
                  <a:lnTo>
                    <a:pt x="7223760" y="0"/>
                  </a:lnTo>
                  <a:lnTo>
                    <a:pt x="7223760" y="3291840"/>
                  </a:lnTo>
                  <a:lnTo>
                    <a:pt x="0" y="3291840"/>
                  </a:lnTo>
                  <a:close/>
                </a:path>
              </a:pathLst>
            </a:custGeom>
            <a:solidFill>
              <a:srgbClr val="3885AB"/>
            </a:solidFill>
          </p:spPr>
        </p:sp>
      </p:grpSp>
      <p:sp>
        <p:nvSpPr>
          <p:cNvPr id="11" name="TextBox 11"/>
          <p:cNvSpPr txBox="1"/>
          <p:nvPr/>
        </p:nvSpPr>
        <p:spPr>
          <a:xfrm>
            <a:off x="1088136" y="2842641"/>
            <a:ext cx="2169765" cy="525785"/>
          </a:xfrm>
          <a:prstGeom prst="rect">
            <a:avLst/>
          </a:prstGeom>
        </p:spPr>
        <p:txBody>
          <a:bodyPr lIns="0" tIns="0" rIns="0" bIns="0" rtlCol="0" anchor="t">
            <a:spAutoFit/>
          </a:bodyPr>
          <a:lstStyle/>
          <a:p>
            <a:pPr algn="l">
              <a:lnSpc>
                <a:spcPts val="4140"/>
              </a:lnSpc>
            </a:pPr>
            <a:r>
              <a:rPr lang="en-US" sz="3450" spc="-203" dirty="0">
                <a:solidFill>
                  <a:srgbClr val="FBF6F1"/>
                </a:solidFill>
                <a:latin typeface="Times New Roman"/>
                <a:ea typeface="Times New Roman"/>
                <a:cs typeface="Times New Roman"/>
                <a:sym typeface="Times New Roman"/>
              </a:rPr>
              <a:t>20.290 /8.697</a:t>
            </a:r>
          </a:p>
        </p:txBody>
      </p:sp>
      <p:sp>
        <p:nvSpPr>
          <p:cNvPr id="12" name="TextBox 12"/>
          <p:cNvSpPr txBox="1"/>
          <p:nvPr/>
        </p:nvSpPr>
        <p:spPr>
          <a:xfrm>
            <a:off x="1088136" y="3633978"/>
            <a:ext cx="4887468" cy="781050"/>
          </a:xfrm>
          <a:prstGeom prst="rect">
            <a:avLst/>
          </a:prstGeom>
        </p:spPr>
        <p:txBody>
          <a:bodyPr lIns="0" tIns="0" rIns="0" bIns="0" rtlCol="0" anchor="t">
            <a:spAutoFit/>
          </a:bodyPr>
          <a:lstStyle/>
          <a:p>
            <a:pPr algn="l">
              <a:lnSpc>
                <a:spcPts val="3060"/>
              </a:lnSpc>
            </a:pPr>
            <a:r>
              <a:rPr lang="en-US" sz="2550" b="1" spc="-150">
                <a:solidFill>
                  <a:srgbClr val="FBF6F1"/>
                </a:solidFill>
                <a:latin typeface="Times New Roman Bold"/>
                <a:ea typeface="Times New Roman Bold"/>
                <a:cs typeface="Times New Roman Bold"/>
                <a:sym typeface="Times New Roman Bold"/>
              </a:rPr>
              <a:t>TRAIN / TEST • SEED 42</a:t>
            </a:r>
          </a:p>
          <a:p>
            <a:pPr algn="l">
              <a:lnSpc>
                <a:spcPts val="3060"/>
              </a:lnSpc>
            </a:pPr>
            <a:r>
              <a:rPr lang="en-US" sz="2550" b="1" spc="-150">
                <a:solidFill>
                  <a:srgbClr val="FBF6F1"/>
                </a:solidFill>
                <a:latin typeface="Times New Roman Bold"/>
                <a:ea typeface="Times New Roman Bold"/>
                <a:cs typeface="Times New Roman Bold"/>
                <a:sym typeface="Times New Roman Bold"/>
              </a:rPr>
              <a:t>CV 4-FOLD TRÊN TRAIN</a:t>
            </a:r>
          </a:p>
        </p:txBody>
      </p:sp>
      <p:grpSp>
        <p:nvGrpSpPr>
          <p:cNvPr id="13" name="Group 13"/>
          <p:cNvGrpSpPr/>
          <p:nvPr/>
        </p:nvGrpSpPr>
        <p:grpSpPr>
          <a:xfrm>
            <a:off x="6446520" y="2674620"/>
            <a:ext cx="5417820" cy="2468880"/>
            <a:chOff x="0" y="0"/>
            <a:chExt cx="7223760" cy="3291840"/>
          </a:xfrm>
        </p:grpSpPr>
        <p:sp>
          <p:nvSpPr>
            <p:cNvPr id="14" name="Freeform 14"/>
            <p:cNvSpPr/>
            <p:nvPr/>
          </p:nvSpPr>
          <p:spPr>
            <a:xfrm>
              <a:off x="0" y="0"/>
              <a:ext cx="7223760" cy="3291840"/>
            </a:xfrm>
            <a:custGeom>
              <a:avLst/>
              <a:gdLst/>
              <a:ahLst/>
              <a:cxnLst/>
              <a:rect l="l" t="t" r="r" b="b"/>
              <a:pathLst>
                <a:path w="7223760" h="3291840">
                  <a:moveTo>
                    <a:pt x="0" y="0"/>
                  </a:moveTo>
                  <a:lnTo>
                    <a:pt x="7223760" y="0"/>
                  </a:lnTo>
                  <a:lnTo>
                    <a:pt x="7223760" y="3291840"/>
                  </a:lnTo>
                  <a:lnTo>
                    <a:pt x="0" y="3291840"/>
                  </a:lnTo>
                  <a:close/>
                </a:path>
              </a:pathLst>
            </a:custGeom>
            <a:solidFill>
              <a:srgbClr val="3885AB"/>
            </a:solidFill>
          </p:spPr>
        </p:sp>
      </p:grpSp>
      <p:sp>
        <p:nvSpPr>
          <p:cNvPr id="15" name="TextBox 15"/>
          <p:cNvSpPr txBox="1"/>
          <p:nvPr/>
        </p:nvSpPr>
        <p:spPr>
          <a:xfrm>
            <a:off x="6711696" y="2842641"/>
            <a:ext cx="2694533" cy="552450"/>
          </a:xfrm>
          <a:prstGeom prst="rect">
            <a:avLst/>
          </a:prstGeom>
        </p:spPr>
        <p:txBody>
          <a:bodyPr lIns="0" tIns="0" rIns="0" bIns="0" rtlCol="0" anchor="t">
            <a:spAutoFit/>
          </a:bodyPr>
          <a:lstStyle/>
          <a:p>
            <a:pPr algn="l">
              <a:lnSpc>
                <a:spcPts val="4140"/>
              </a:lnSpc>
            </a:pPr>
            <a:r>
              <a:rPr lang="en-US" sz="3450" spc="-203">
                <a:solidFill>
                  <a:srgbClr val="FBF6F1"/>
                </a:solidFill>
                <a:latin typeface="Times New Roman"/>
                <a:ea typeface="Times New Roman"/>
                <a:cs typeface="Times New Roman"/>
                <a:sym typeface="Times New Roman"/>
              </a:rPr>
              <a:t>0 BIẾN SỐ ĐẠT</a:t>
            </a:r>
          </a:p>
        </p:txBody>
      </p:sp>
      <p:sp>
        <p:nvSpPr>
          <p:cNvPr id="16" name="TextBox 16"/>
          <p:cNvSpPr txBox="1"/>
          <p:nvPr/>
        </p:nvSpPr>
        <p:spPr>
          <a:xfrm>
            <a:off x="6711696" y="3633978"/>
            <a:ext cx="4887468" cy="781050"/>
          </a:xfrm>
          <a:prstGeom prst="rect">
            <a:avLst/>
          </a:prstGeom>
        </p:spPr>
        <p:txBody>
          <a:bodyPr lIns="0" tIns="0" rIns="0" bIns="0" rtlCol="0" anchor="t">
            <a:spAutoFit/>
          </a:bodyPr>
          <a:lstStyle/>
          <a:p>
            <a:pPr algn="l">
              <a:lnSpc>
                <a:spcPts val="3060"/>
              </a:lnSpc>
            </a:pPr>
            <a:r>
              <a:rPr lang="en-US" sz="2550" b="1" spc="-150" dirty="0">
                <a:solidFill>
                  <a:srgbClr val="FBF6F1"/>
                </a:solidFill>
                <a:latin typeface="Times New Roman Bold"/>
                <a:ea typeface="Times New Roman Bold"/>
                <a:cs typeface="Times New Roman Bold"/>
                <a:sym typeface="Times New Roman Bold"/>
              </a:rPr>
              <a:t>|R|≥0,30 VÀ P&lt;0,05</a:t>
            </a:r>
          </a:p>
          <a:p>
            <a:pPr algn="l">
              <a:lnSpc>
                <a:spcPts val="3060"/>
              </a:lnSpc>
            </a:pPr>
            <a:r>
              <a:rPr lang="en-US" sz="2550" b="1" spc="-150" dirty="0">
                <a:solidFill>
                  <a:srgbClr val="FBF6F1"/>
                </a:solidFill>
                <a:latin typeface="Times New Roman Bold"/>
                <a:ea typeface="Times New Roman Bold"/>
                <a:cs typeface="Times New Roman Bold"/>
                <a:sym typeface="Times New Roman Bold"/>
              </a:rPr>
              <a:t>KIỂM TRA TỪNG TRAINING FOLD</a:t>
            </a:r>
          </a:p>
        </p:txBody>
      </p:sp>
      <p:grpSp>
        <p:nvGrpSpPr>
          <p:cNvPr id="17" name="Group 17"/>
          <p:cNvGrpSpPr/>
          <p:nvPr/>
        </p:nvGrpSpPr>
        <p:grpSpPr>
          <a:xfrm>
            <a:off x="12070080" y="2674620"/>
            <a:ext cx="5417820" cy="2468880"/>
            <a:chOff x="0" y="0"/>
            <a:chExt cx="7223760" cy="3291840"/>
          </a:xfrm>
        </p:grpSpPr>
        <p:sp>
          <p:nvSpPr>
            <p:cNvPr id="18" name="Freeform 18"/>
            <p:cNvSpPr/>
            <p:nvPr/>
          </p:nvSpPr>
          <p:spPr>
            <a:xfrm>
              <a:off x="0" y="0"/>
              <a:ext cx="7223760" cy="3291840"/>
            </a:xfrm>
            <a:custGeom>
              <a:avLst/>
              <a:gdLst/>
              <a:ahLst/>
              <a:cxnLst/>
              <a:rect l="l" t="t" r="r" b="b"/>
              <a:pathLst>
                <a:path w="7223760" h="3291840">
                  <a:moveTo>
                    <a:pt x="0" y="0"/>
                  </a:moveTo>
                  <a:lnTo>
                    <a:pt x="7223760" y="0"/>
                  </a:lnTo>
                  <a:lnTo>
                    <a:pt x="7223760" y="3291840"/>
                  </a:lnTo>
                  <a:lnTo>
                    <a:pt x="0" y="3291840"/>
                  </a:lnTo>
                  <a:close/>
                </a:path>
              </a:pathLst>
            </a:custGeom>
            <a:solidFill>
              <a:srgbClr val="3885AB"/>
            </a:solidFill>
          </p:spPr>
        </p:sp>
      </p:grpSp>
      <p:sp>
        <p:nvSpPr>
          <p:cNvPr id="19" name="TextBox 19"/>
          <p:cNvSpPr txBox="1"/>
          <p:nvPr/>
        </p:nvSpPr>
        <p:spPr>
          <a:xfrm>
            <a:off x="12335256" y="2842641"/>
            <a:ext cx="3875038" cy="552450"/>
          </a:xfrm>
          <a:prstGeom prst="rect">
            <a:avLst/>
          </a:prstGeom>
        </p:spPr>
        <p:txBody>
          <a:bodyPr lIns="0" tIns="0" rIns="0" bIns="0" rtlCol="0" anchor="t">
            <a:spAutoFit/>
          </a:bodyPr>
          <a:lstStyle/>
          <a:p>
            <a:pPr algn="l">
              <a:lnSpc>
                <a:spcPts val="4140"/>
              </a:lnSpc>
            </a:pPr>
            <a:r>
              <a:rPr lang="en-US" sz="3450" spc="-203">
                <a:solidFill>
                  <a:srgbClr val="FBF6F1"/>
                </a:solidFill>
                <a:latin typeface="Times New Roman"/>
                <a:ea typeface="Times New Roman"/>
                <a:cs typeface="Times New Roman"/>
                <a:sym typeface="Times New Roman"/>
              </a:rPr>
              <a:t>ANOVA LÀM BỘ LỌC</a:t>
            </a:r>
          </a:p>
        </p:txBody>
      </p:sp>
      <p:sp>
        <p:nvSpPr>
          <p:cNvPr id="20" name="TextBox 20"/>
          <p:cNvSpPr txBox="1"/>
          <p:nvPr/>
        </p:nvSpPr>
        <p:spPr>
          <a:xfrm>
            <a:off x="12335256" y="3633978"/>
            <a:ext cx="4887468" cy="1162050"/>
          </a:xfrm>
          <a:prstGeom prst="rect">
            <a:avLst/>
          </a:prstGeom>
        </p:spPr>
        <p:txBody>
          <a:bodyPr lIns="0" tIns="0" rIns="0" bIns="0" rtlCol="0" anchor="t">
            <a:spAutoFit/>
          </a:bodyPr>
          <a:lstStyle/>
          <a:p>
            <a:pPr algn="l">
              <a:lnSpc>
                <a:spcPts val="3060"/>
              </a:lnSpc>
            </a:pPr>
            <a:r>
              <a:rPr lang="en-US" sz="2550" b="1" spc="-150" dirty="0">
                <a:solidFill>
                  <a:srgbClr val="FBF6F1"/>
                </a:solidFill>
                <a:latin typeface="Times New Roman Bold"/>
                <a:ea typeface="Times New Roman Bold"/>
                <a:cs typeface="Times New Roman Bold"/>
                <a:sym typeface="Times New Roman Bold"/>
              </a:rPr>
              <a:t>CHƯA XÁC NHẬN ĐIỀU KIỆN</a:t>
            </a:r>
          </a:p>
          <a:p>
            <a:pPr algn="l">
              <a:lnSpc>
                <a:spcPts val="3060"/>
              </a:lnSpc>
            </a:pPr>
            <a:r>
              <a:rPr lang="en-US" sz="2550" b="1" spc="-150" dirty="0">
                <a:solidFill>
                  <a:srgbClr val="FBF6F1"/>
                </a:solidFill>
                <a:latin typeface="Times New Roman Bold"/>
                <a:ea typeface="Times New Roman Bold"/>
                <a:cs typeface="Times New Roman Bold"/>
                <a:sym typeface="Times New Roman Bold"/>
              </a:rPr>
              <a:t>LƯU CHẨN ĐOÁN THỰC TỪNG FOLD</a:t>
            </a:r>
          </a:p>
        </p:txBody>
      </p:sp>
      <p:sp>
        <p:nvSpPr>
          <p:cNvPr id="21" name="TextBox 21"/>
          <p:cNvSpPr txBox="1"/>
          <p:nvPr/>
        </p:nvSpPr>
        <p:spPr>
          <a:xfrm>
            <a:off x="1046988" y="5777865"/>
            <a:ext cx="16422624" cy="1171575"/>
          </a:xfrm>
          <a:prstGeom prst="rect">
            <a:avLst/>
          </a:prstGeom>
        </p:spPr>
        <p:txBody>
          <a:bodyPr lIns="0" tIns="0" rIns="0" bIns="0" rtlCol="0" anchor="t">
            <a:spAutoFit/>
          </a:bodyPr>
          <a:lstStyle/>
          <a:p>
            <a:pPr algn="l">
              <a:lnSpc>
                <a:spcPts val="4500"/>
              </a:lnSpc>
            </a:pPr>
            <a:r>
              <a:rPr lang="en-US" sz="3750" spc="-221" dirty="0">
                <a:solidFill>
                  <a:srgbClr val="185079"/>
                </a:solidFill>
                <a:latin typeface="Times New Roman"/>
                <a:ea typeface="Times New Roman"/>
                <a:cs typeface="Times New Roman"/>
                <a:sym typeface="Times New Roman"/>
              </a:rPr>
              <a:t>MỐC TRUNG BÌNH TRAIN: 2.976,12 THB/ĐÊM</a:t>
            </a:r>
          </a:p>
          <a:p>
            <a:pPr algn="l">
              <a:lnSpc>
                <a:spcPts val="4500"/>
              </a:lnSpc>
            </a:pPr>
            <a:r>
              <a:rPr lang="en-US" sz="3750" spc="-221" dirty="0">
                <a:solidFill>
                  <a:srgbClr val="185079"/>
                </a:solidFill>
                <a:latin typeface="Times New Roman"/>
                <a:ea typeface="Times New Roman"/>
                <a:cs typeface="Times New Roman"/>
                <a:sym typeface="Times New Roman"/>
              </a:rPr>
              <a:t>TEST MSE = 315.021.203,83 THB² • R² = −0,000014334</a:t>
            </a:r>
          </a:p>
        </p:txBody>
      </p:sp>
      <p:sp>
        <p:nvSpPr>
          <p:cNvPr id="22" name="TextBox 22"/>
          <p:cNvSpPr txBox="1"/>
          <p:nvPr/>
        </p:nvSpPr>
        <p:spPr>
          <a:xfrm>
            <a:off x="1046988" y="7986141"/>
            <a:ext cx="16422624" cy="942975"/>
          </a:xfrm>
          <a:prstGeom prst="rect">
            <a:avLst/>
          </a:prstGeom>
        </p:spPr>
        <p:txBody>
          <a:bodyPr lIns="0" tIns="0" rIns="0" bIns="0" rtlCol="0" anchor="t">
            <a:spAutoFit/>
          </a:bodyPr>
          <a:lstStyle/>
          <a:p>
            <a:pPr algn="l">
              <a:lnSpc>
                <a:spcPts val="3600"/>
              </a:lnSpc>
            </a:pPr>
            <a:r>
              <a:rPr lang="en-US" sz="3000" spc="-177" dirty="0">
                <a:solidFill>
                  <a:srgbClr val="185079"/>
                </a:solidFill>
                <a:latin typeface="Times New Roman Bold"/>
                <a:ea typeface="Times New Roman Bold"/>
                <a:cs typeface="Times New Roman Bold"/>
                <a:sym typeface="Times New Roman Bold"/>
              </a:rPr>
              <a:t>ĐÂY LÀ GIỚI HẠN CỦA CHÍNH SÁCH CHỌN BIẾN HIỆN TẠI.</a:t>
            </a:r>
          </a:p>
          <a:p>
            <a:pPr algn="l">
              <a:lnSpc>
                <a:spcPts val="3600"/>
              </a:lnSpc>
            </a:pPr>
            <a:r>
              <a:rPr lang="en-US" sz="3000" spc="-177" dirty="0">
                <a:solidFill>
                  <a:srgbClr val="185079"/>
                </a:solidFill>
                <a:latin typeface="Times New Roman Bold"/>
                <a:ea typeface="Times New Roman Bold"/>
                <a:cs typeface="Times New Roman Bold"/>
                <a:sym typeface="Times New Roman Bold"/>
              </a:rPr>
              <a:t>82,81% LISTING TEST THUỘC HOST ĐÃ XUẤT HIỆN Ở TRAIN; CHƯA ĐÁNH GIÁ HOST MỚI.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KẾT QUẢ VÀ GIỚI HẠN CẦN GIỮ KHI DIỄN GIẢI</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10</a:t>
            </a:r>
          </a:p>
        </p:txBody>
      </p:sp>
      <p:sp>
        <p:nvSpPr>
          <p:cNvPr id="9" name="TextBox 9"/>
          <p:cNvSpPr txBox="1"/>
          <p:nvPr/>
        </p:nvSpPr>
        <p:spPr>
          <a:xfrm>
            <a:off x="932459" y="2506121"/>
            <a:ext cx="16422624" cy="6347892"/>
          </a:xfrm>
          <a:prstGeom prst="rect">
            <a:avLst/>
          </a:prstGeom>
        </p:spPr>
        <p:txBody>
          <a:bodyPr lIns="0" tIns="0" rIns="0" bIns="0" rtlCol="0" anchor="t">
            <a:spAutoFit/>
          </a:bodyPr>
          <a:lstStyle/>
          <a:p>
            <a:pPr algn="l">
              <a:lnSpc>
                <a:spcPts val="4500"/>
              </a:lnSpc>
            </a:pPr>
            <a:r>
              <a:rPr lang="en-US" sz="3750" spc="-221" dirty="0">
                <a:solidFill>
                  <a:srgbClr val="185079"/>
                </a:solidFill>
                <a:latin typeface="Times New Roman"/>
                <a:ea typeface="Times New Roman"/>
                <a:cs typeface="Times New Roman"/>
                <a:sym typeface="Times New Roman"/>
              </a:rPr>
              <a:t>NHÓM ĐÃ THỰC HIỆN ĐƯỢC:</a:t>
            </a:r>
          </a:p>
          <a:p>
            <a:pPr algn="l">
              <a:lnSpc>
                <a:spcPts val="4500"/>
              </a:lnSpc>
            </a:pPr>
            <a:endParaRPr lang="en-US" sz="3750" spc="-221" dirty="0">
              <a:solidFill>
                <a:srgbClr val="185079"/>
              </a:solidFill>
              <a:latin typeface="Times New Roman"/>
              <a:ea typeface="Times New Roman"/>
              <a:cs typeface="Times New Roman"/>
              <a:sym typeface="Times New Roman"/>
            </a:endParaRPr>
          </a:p>
          <a:p>
            <a:pPr marL="809625" lvl="1" indent="-404812" algn="l">
              <a:lnSpc>
                <a:spcPts val="4500"/>
              </a:lnSpc>
              <a:buAutoNum type="arabicPeriod"/>
            </a:pPr>
            <a:r>
              <a:rPr lang="en-US" sz="3750" spc="-221" dirty="0">
                <a:solidFill>
                  <a:srgbClr val="185079"/>
                </a:solidFill>
                <a:latin typeface="Times New Roman"/>
                <a:ea typeface="Times New Roman"/>
                <a:cs typeface="Times New Roman"/>
                <a:sym typeface="Times New Roman"/>
              </a:rPr>
              <a:t>PHÂN PHỐI GIÁ LỆCH PHẢI NÊN CẦN ĐỌC TRUNG VỊ CÙNG IQR. </a:t>
            </a:r>
          </a:p>
          <a:p>
            <a:pPr marL="809625" lvl="1" indent="-404812" algn="l">
              <a:lnSpc>
                <a:spcPts val="4500"/>
              </a:lnSpc>
              <a:buAutoNum type="arabicPeriod"/>
            </a:pPr>
            <a:r>
              <a:rPr lang="en-US" sz="3750" spc="-221" dirty="0">
                <a:solidFill>
                  <a:srgbClr val="185079"/>
                </a:solidFill>
                <a:latin typeface="Times New Roman"/>
                <a:ea typeface="Times New Roman"/>
                <a:cs typeface="Times New Roman"/>
                <a:sym typeface="Times New Roman"/>
              </a:rPr>
              <a:t>GIÁ KHÁC NHAU THEO LOẠI PHÒNG NÊN CẦN SO SÁNH ĐÚNG PHÂN KHÚC. </a:t>
            </a:r>
          </a:p>
          <a:p>
            <a:pPr marL="809625" lvl="1" indent="-404812" algn="l">
              <a:lnSpc>
                <a:spcPts val="4500"/>
              </a:lnSpc>
              <a:buAutoNum type="arabicPeriod"/>
            </a:pPr>
            <a:r>
              <a:rPr lang="en-US" sz="3750" spc="-221" dirty="0">
                <a:solidFill>
                  <a:srgbClr val="185079"/>
                </a:solidFill>
                <a:latin typeface="Times New Roman"/>
                <a:ea typeface="Times New Roman"/>
                <a:cs typeface="Times New Roman"/>
                <a:sym typeface="Times New Roman"/>
              </a:rPr>
              <a:t>QUY MÔ CÓ TƯƠNG QUAN TUYẾN TÍNH YẾU VỚI GIÁ TRONG DỮ LIỆU ĐANG XÉT, P NHỎ KHÔNG THAY THẾ ĐỘ LỚN LIÊN HỆ. </a:t>
            </a:r>
          </a:p>
          <a:p>
            <a:pPr marL="809625" lvl="1" indent="-404812" algn="l">
              <a:lnSpc>
                <a:spcPts val="4500"/>
              </a:lnSpc>
              <a:buAutoNum type="arabicPeriod"/>
            </a:pPr>
            <a:r>
              <a:rPr lang="en-US" sz="3750" spc="-221" dirty="0">
                <a:solidFill>
                  <a:srgbClr val="185079"/>
                </a:solidFill>
                <a:latin typeface="Times New Roman"/>
                <a:ea typeface="Times New Roman"/>
                <a:cs typeface="Times New Roman"/>
                <a:sym typeface="Times New Roman"/>
              </a:rPr>
              <a:t>CÁC KHU VỰC CÓ MỨC TRUNG VỊ KHÁC NHAU NGAY TRONG CÙNG NHÓM NGUYÊN CĂN. SẢN PHẨM GỒM BẢNG DỮ LIỆU SẠCH, BỐN NOTEBOOK, NĂM BIỂU ĐỒ VÀ BÁO CÁO. GIÁ TRỊ SỬ DỤNG HIỆN TẠI LÀ CUNG CẤP CÁC MỐC SO SÁNH BÁO GIÁ CÓ THỂ TRUY VỀ DỮ LIỆU, CHƯA PHẢI CÔNG CỤ ĐỊNH GIÁ TỐI ƯU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64592"/>
            <a:chOff x="0" y="0"/>
            <a:chExt cx="24383390" cy="219456"/>
          </a:xfrm>
        </p:grpSpPr>
        <p:sp>
          <p:nvSpPr>
            <p:cNvPr id="3" name="Freeform 3"/>
            <p:cNvSpPr/>
            <p:nvPr/>
          </p:nvSpPr>
          <p:spPr>
            <a:xfrm>
              <a:off x="0" y="0"/>
              <a:ext cx="24383364" cy="219456"/>
            </a:xfrm>
            <a:custGeom>
              <a:avLst/>
              <a:gdLst/>
              <a:ahLst/>
              <a:cxnLst/>
              <a:rect l="l" t="t" r="r" b="b"/>
              <a:pathLst>
                <a:path w="24383364" h="219456">
                  <a:moveTo>
                    <a:pt x="0" y="0"/>
                  </a:moveTo>
                  <a:lnTo>
                    <a:pt x="24383364" y="0"/>
                  </a:lnTo>
                  <a:lnTo>
                    <a:pt x="24383364" y="219456"/>
                  </a:lnTo>
                  <a:lnTo>
                    <a:pt x="0" y="219456"/>
                  </a:lnTo>
                  <a:close/>
                </a:path>
              </a:pathLst>
            </a:custGeom>
            <a:solidFill>
              <a:srgbClr val="BBD6E1"/>
            </a:solidFill>
          </p:spPr>
        </p:sp>
      </p:grpSp>
      <p:sp>
        <p:nvSpPr>
          <p:cNvPr id="4" name="TextBox 4"/>
          <p:cNvSpPr txBox="1"/>
          <p:nvPr/>
        </p:nvSpPr>
        <p:spPr>
          <a:xfrm>
            <a:off x="772668" y="410718"/>
            <a:ext cx="15051024" cy="266700"/>
          </a:xfrm>
          <a:prstGeom prst="rect">
            <a:avLst/>
          </a:prstGeom>
        </p:spPr>
        <p:txBody>
          <a:bodyPr lIns="0" tIns="0" rIns="0" bIns="0" rtlCol="0" anchor="t">
            <a:spAutoFit/>
          </a:bodyPr>
          <a:lstStyle/>
          <a:p>
            <a:pPr algn="l">
              <a:lnSpc>
                <a:spcPts val="1980"/>
              </a:lnSpc>
            </a:pPr>
            <a:r>
              <a:rPr lang="en-US" sz="1650" b="1">
                <a:solidFill>
                  <a:srgbClr val="185079"/>
                </a:solidFill>
                <a:latin typeface="Times New Roman Bold"/>
                <a:ea typeface="Times New Roman Bold"/>
                <a:cs typeface="Times New Roman Bold"/>
                <a:sym typeface="Times New Roman Bold"/>
              </a:rPr>
              <a:t>IE313 • NHÓM 10 • AIRBNB BANGKOK</a:t>
            </a:r>
          </a:p>
        </p:txBody>
      </p:sp>
      <p:sp>
        <p:nvSpPr>
          <p:cNvPr id="5" name="TextBox 5"/>
          <p:cNvSpPr txBox="1"/>
          <p:nvPr/>
        </p:nvSpPr>
        <p:spPr>
          <a:xfrm>
            <a:off x="772668" y="1141857"/>
            <a:ext cx="16696944" cy="685800"/>
          </a:xfrm>
          <a:prstGeom prst="rect">
            <a:avLst/>
          </a:prstGeom>
        </p:spPr>
        <p:txBody>
          <a:bodyPr lIns="0" tIns="0" rIns="0" bIns="0" rtlCol="0" anchor="t">
            <a:spAutoFit/>
          </a:bodyPr>
          <a:lstStyle/>
          <a:p>
            <a:pPr algn="l">
              <a:lnSpc>
                <a:spcPts val="5220"/>
              </a:lnSpc>
            </a:pPr>
            <a:r>
              <a:rPr lang="en-US" sz="4350" b="1" spc="-256">
                <a:solidFill>
                  <a:srgbClr val="185079"/>
                </a:solidFill>
                <a:latin typeface="Times New Roman Bold"/>
                <a:ea typeface="Times New Roman Bold"/>
                <a:cs typeface="Times New Roman Bold"/>
                <a:sym typeface="Times New Roman Bold"/>
              </a:rPr>
              <a:t>HẠN CHẾ VÀ HƯỚNG PHÁT TRIỂN</a:t>
            </a:r>
          </a:p>
        </p:txBody>
      </p:sp>
      <p:grpSp>
        <p:nvGrpSpPr>
          <p:cNvPr id="6" name="Group 6"/>
          <p:cNvGrpSpPr/>
          <p:nvPr/>
        </p:nvGrpSpPr>
        <p:grpSpPr>
          <a:xfrm>
            <a:off x="754380" y="9436608"/>
            <a:ext cx="16733520" cy="16459"/>
            <a:chOff x="0" y="0"/>
            <a:chExt cx="22311360" cy="21946"/>
          </a:xfrm>
        </p:grpSpPr>
        <p:sp>
          <p:nvSpPr>
            <p:cNvPr id="7" name="Freeform 7"/>
            <p:cNvSpPr/>
            <p:nvPr/>
          </p:nvSpPr>
          <p:spPr>
            <a:xfrm>
              <a:off x="0" y="0"/>
              <a:ext cx="22311361" cy="21971"/>
            </a:xfrm>
            <a:custGeom>
              <a:avLst/>
              <a:gdLst/>
              <a:ahLst/>
              <a:cxnLst/>
              <a:rect l="l" t="t" r="r" b="b"/>
              <a:pathLst>
                <a:path w="22311361" h="21971">
                  <a:moveTo>
                    <a:pt x="0" y="0"/>
                  </a:moveTo>
                  <a:lnTo>
                    <a:pt x="22311361" y="0"/>
                  </a:lnTo>
                  <a:lnTo>
                    <a:pt x="22311361" y="21971"/>
                  </a:lnTo>
                  <a:lnTo>
                    <a:pt x="0" y="21971"/>
                  </a:lnTo>
                  <a:close/>
                </a:path>
              </a:pathLst>
            </a:custGeom>
            <a:solidFill>
              <a:srgbClr val="BBD6E1"/>
            </a:solidFill>
          </p:spPr>
        </p:sp>
      </p:grpSp>
      <p:sp>
        <p:nvSpPr>
          <p:cNvPr id="8" name="TextBox 8"/>
          <p:cNvSpPr txBox="1"/>
          <p:nvPr/>
        </p:nvSpPr>
        <p:spPr>
          <a:xfrm>
            <a:off x="16683228" y="9600438"/>
            <a:ext cx="786384" cy="247650"/>
          </a:xfrm>
          <a:prstGeom prst="rect">
            <a:avLst/>
          </a:prstGeom>
        </p:spPr>
        <p:txBody>
          <a:bodyPr lIns="0" tIns="0" rIns="0" bIns="0" rtlCol="0" anchor="t">
            <a:spAutoFit/>
          </a:bodyPr>
          <a:lstStyle/>
          <a:p>
            <a:pPr algn="l">
              <a:lnSpc>
                <a:spcPts val="1800"/>
              </a:lnSpc>
            </a:pPr>
            <a:r>
              <a:rPr lang="en-US" sz="1500" b="1" spc="-88">
                <a:solidFill>
                  <a:srgbClr val="185079"/>
                </a:solidFill>
                <a:latin typeface="Times New Roman Bold"/>
                <a:ea typeface="Times New Roman Bold"/>
                <a:cs typeface="Times New Roman Bold"/>
                <a:sym typeface="Times New Roman Bold"/>
              </a:rPr>
              <a:t>10</a:t>
            </a:r>
          </a:p>
        </p:txBody>
      </p:sp>
      <p:sp>
        <p:nvSpPr>
          <p:cNvPr id="9" name="TextBox 9"/>
          <p:cNvSpPr txBox="1"/>
          <p:nvPr/>
        </p:nvSpPr>
        <p:spPr>
          <a:xfrm>
            <a:off x="932459" y="2506121"/>
            <a:ext cx="16422624" cy="4029075"/>
          </a:xfrm>
          <a:prstGeom prst="rect">
            <a:avLst/>
          </a:prstGeom>
        </p:spPr>
        <p:txBody>
          <a:bodyPr lIns="0" tIns="0" rIns="0" bIns="0" rtlCol="0" anchor="t">
            <a:spAutoFit/>
          </a:bodyPr>
          <a:lstStyle/>
          <a:p>
            <a:pPr marL="809625" lvl="1" indent="-404812" algn="l">
              <a:lnSpc>
                <a:spcPts val="4500"/>
              </a:lnSpc>
              <a:buAutoNum type="arabicPeriod"/>
            </a:pPr>
            <a:r>
              <a:rPr lang="en-US" sz="3750" spc="-221">
                <a:solidFill>
                  <a:srgbClr val="185079"/>
                </a:solidFill>
                <a:latin typeface="Times New Roman"/>
                <a:ea typeface="Times New Roman"/>
                <a:cs typeface="Times New Roman"/>
                <a:sym typeface="Times New Roman"/>
              </a:rPr>
              <a:t>CÁC GIỚI HẠN CHÍNH LÀ DỮ LIỆU CHỈ CÓ MỘT ĐỢT THU THẬP, GIÁ NIÊM YẾT CHƯA XÁC MINH ĐẦY ĐỦ PHỤ PHÍ, DỮ LIỆU KHUYẾT VÀ NGOẠI LỆ CHƯA XÁC MINH, CÙNG SỰ PHỤ THUỘC GIỮA CÁC CHỖ Ở CHUNG CHỦ NHÀ. </a:t>
            </a:r>
          </a:p>
          <a:p>
            <a:pPr marL="809625" lvl="1" indent="-404812" algn="l">
              <a:lnSpc>
                <a:spcPts val="4500"/>
              </a:lnSpc>
              <a:buAutoNum type="arabicPeriod"/>
            </a:pPr>
            <a:r>
              <a:rPr lang="en-US" sz="3750" spc="-221">
                <a:solidFill>
                  <a:srgbClr val="185079"/>
                </a:solidFill>
                <a:latin typeface="Times New Roman"/>
                <a:ea typeface="Times New Roman"/>
                <a:cs typeface="Times New Roman"/>
                <a:sym typeface="Times New Roman"/>
              </a:rPr>
              <a:t>NHÓM CŨNG CHƯA CÓ MÔ HÌNH HỒI QUY THEO BỘ LỌC HIỆN TẠI. HƯỚNG TIẾP THEO LÀ BỔ SUNG NHIỀU THỜI ĐIỂM, KIỂM TRA DỮ LIỆU NGOẠI LỆ VÀ ĐÁNH GIÁ THEO NHÓM CHỦ NHÀ. </a:t>
            </a:r>
          </a:p>
          <a:p>
            <a:pPr marL="809625" lvl="1" indent="-404812" algn="l">
              <a:lnSpc>
                <a:spcPts val="4500"/>
              </a:lnSpc>
              <a:buAutoNum type="arabicPeriod"/>
            </a:pPr>
            <a:r>
              <a:rPr lang="en-US" sz="3750" spc="-221">
                <a:solidFill>
                  <a:srgbClr val="185079"/>
                </a:solidFill>
                <a:latin typeface="Times New Roman"/>
                <a:ea typeface="Times New Roman"/>
                <a:cs typeface="Times New Roman"/>
                <a:sym typeface="Times New Roman"/>
              </a:rPr>
              <a:t>ĐÂY LÀ HƯỚNG ĐỀ XUẤT, CHƯA PHẢI KẾT QUẢ ĐÃ THỰC HIỆN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715"/>
            <a:ext cx="18387261" cy="10331342"/>
          </a:xfrm>
          <a:custGeom>
            <a:avLst/>
            <a:gdLst/>
            <a:ahLst/>
            <a:cxnLst/>
            <a:rect l="l" t="t" r="r" b="b"/>
            <a:pathLst>
              <a:path w="18387261" h="10331342">
                <a:moveTo>
                  <a:pt x="0" y="0"/>
                </a:moveTo>
                <a:lnTo>
                  <a:pt x="18387261" y="0"/>
                </a:lnTo>
                <a:lnTo>
                  <a:pt x="18387261" y="10331342"/>
                </a:lnTo>
                <a:lnTo>
                  <a:pt x="0" y="10331342"/>
                </a:lnTo>
                <a:lnTo>
                  <a:pt x="0" y="0"/>
                </a:lnTo>
                <a:close/>
              </a:path>
            </a:pathLst>
          </a:custGeom>
          <a:blipFill>
            <a:blip r:embed="rId2"/>
            <a:stretch>
              <a:fillRect/>
            </a:stretch>
          </a:blipFill>
        </p:spPr>
      </p:sp>
      <p:sp>
        <p:nvSpPr>
          <p:cNvPr id="3" name="TextBox 3"/>
          <p:cNvSpPr txBox="1"/>
          <p:nvPr/>
        </p:nvSpPr>
        <p:spPr>
          <a:xfrm>
            <a:off x="3908813" y="3860283"/>
            <a:ext cx="9197587" cy="1835012"/>
          </a:xfrm>
          <a:prstGeom prst="rect">
            <a:avLst/>
          </a:prstGeom>
        </p:spPr>
        <p:txBody>
          <a:bodyPr wrap="square" lIns="0" tIns="0" rIns="0" bIns="0" rtlCol="0" anchor="t">
            <a:spAutoFit/>
          </a:bodyPr>
          <a:lstStyle/>
          <a:p>
            <a:pPr algn="ctr">
              <a:lnSpc>
                <a:spcPts val="3627"/>
              </a:lnSpc>
              <a:spcBef>
                <a:spcPct val="0"/>
              </a:spcBef>
            </a:pPr>
            <a:r>
              <a:rPr lang="en-US" sz="3022" b="1" spc="-178" dirty="0">
                <a:solidFill>
                  <a:srgbClr val="000000"/>
                </a:solidFill>
                <a:latin typeface="Times New Roman Bold"/>
                <a:ea typeface="Times New Roman Bold"/>
                <a:cs typeface="Times New Roman Bold"/>
                <a:sym typeface="Times New Roman Bold"/>
              </a:rPr>
              <a:t>THANK YOU!</a:t>
            </a:r>
          </a:p>
          <a:p>
            <a:pPr algn="ctr">
              <a:lnSpc>
                <a:spcPts val="3627"/>
              </a:lnSpc>
              <a:spcBef>
                <a:spcPct val="0"/>
              </a:spcBef>
            </a:pPr>
            <a:endParaRPr lang="en-US" sz="3022" b="1" spc="-178" dirty="0">
              <a:solidFill>
                <a:srgbClr val="000000"/>
              </a:solidFill>
              <a:latin typeface="Times New Roman Bold"/>
              <a:ea typeface="Times New Roman Bold"/>
              <a:cs typeface="Times New Roman Bold"/>
              <a:sym typeface="Times New Roman Bold"/>
            </a:endParaRPr>
          </a:p>
          <a:p>
            <a:pPr algn="ctr">
              <a:lnSpc>
                <a:spcPts val="3627"/>
              </a:lnSpc>
              <a:spcBef>
                <a:spcPct val="0"/>
              </a:spcBef>
            </a:pPr>
            <a:r>
              <a:rPr lang="en-US" sz="3022" b="1" spc="-178" dirty="0">
                <a:solidFill>
                  <a:srgbClr val="000000"/>
                </a:solidFill>
                <a:latin typeface="Times New Roman Bold"/>
                <a:ea typeface="Times New Roman Bold"/>
                <a:cs typeface="Times New Roman Bold"/>
                <a:sym typeface="Times New Roman Bold"/>
              </a:rPr>
              <a:t>CẢM ƠN THẦY  VÀ CÁC BẠN</a:t>
            </a:r>
          </a:p>
          <a:p>
            <a:pPr algn="ctr">
              <a:lnSpc>
                <a:spcPts val="3627"/>
              </a:lnSpc>
              <a:spcBef>
                <a:spcPct val="0"/>
              </a:spcBef>
            </a:pPr>
            <a:r>
              <a:rPr lang="en-US" sz="3022" b="1" spc="-178" dirty="0">
                <a:solidFill>
                  <a:srgbClr val="000000"/>
                </a:solidFill>
                <a:latin typeface="Times New Roman Bold"/>
                <a:ea typeface="Times New Roman Bold"/>
                <a:cs typeface="Times New Roman Bold"/>
                <a:sym typeface="Times New Roman Bold"/>
              </a:rPr>
              <a:t>ĐÃ LẮNG NGHE BÀI THUYẾT TRÌNH CỦA NHÓM EM.</a:t>
            </a:r>
          </a:p>
        </p:txBody>
      </p:sp>
      <p:sp>
        <p:nvSpPr>
          <p:cNvPr id="4" name="TextBox 4"/>
          <p:cNvSpPr txBox="1"/>
          <p:nvPr/>
        </p:nvSpPr>
        <p:spPr>
          <a:xfrm>
            <a:off x="5486400" y="9715500"/>
            <a:ext cx="6553200" cy="374783"/>
          </a:xfrm>
          <a:prstGeom prst="rect">
            <a:avLst/>
          </a:prstGeom>
        </p:spPr>
        <p:txBody>
          <a:bodyPr wrap="square" lIns="0" tIns="0" rIns="0" bIns="0" rtlCol="0" anchor="t">
            <a:spAutoFit/>
          </a:bodyPr>
          <a:lstStyle/>
          <a:p>
            <a:pPr algn="ctr">
              <a:lnSpc>
                <a:spcPts val="3060"/>
              </a:lnSpc>
              <a:spcBef>
                <a:spcPct val="0"/>
              </a:spcBef>
            </a:pPr>
            <a:r>
              <a:rPr lang="en-US" sz="2550" b="1" spc="-150" dirty="0">
                <a:solidFill>
                  <a:srgbClr val="000000"/>
                </a:solidFill>
                <a:latin typeface="Times New Roman Bold"/>
                <a:ea typeface="Times New Roman Bold"/>
                <a:cs typeface="Times New Roman Bold"/>
                <a:sym typeface="Times New Roman Bold"/>
              </a:rPr>
              <a:t>NHÓM 10 · XIN CHÂN THÀNH 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1946</Words>
  <Application>Microsoft Office PowerPoint</Application>
  <PresentationFormat>Custom</PresentationFormat>
  <Paragraphs>184</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Times New Roman</vt:lpstr>
      <vt:lpstr>Calibri</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Nhom10_Slides.pptx</dc:title>
  <dc:creator>Thien 'Leo'</dc:creator>
  <cp:lastModifiedBy>Thien 'Leo'</cp:lastModifiedBy>
  <cp:revision>4</cp:revision>
  <dcterms:created xsi:type="dcterms:W3CDTF">2006-08-16T00:00:00Z</dcterms:created>
  <dcterms:modified xsi:type="dcterms:W3CDTF">2026-10-20T14:50:46Z</dcterms:modified>
  <dc:identifier>DAHX5SuDIDA</dc:identifier>
</cp:coreProperties>
</file>